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85" r:id="rId5"/>
    <p:sldId id="258" r:id="rId6"/>
    <p:sldId id="260" r:id="rId7"/>
    <p:sldId id="263" r:id="rId8"/>
    <p:sldId id="264" r:id="rId9"/>
    <p:sldId id="289" r:id="rId10"/>
    <p:sldId id="261" r:id="rId11"/>
    <p:sldId id="262" r:id="rId12"/>
    <p:sldId id="290" r:id="rId13"/>
    <p:sldId id="265" r:id="rId14"/>
    <p:sldId id="286" r:id="rId15"/>
    <p:sldId id="267" r:id="rId16"/>
    <p:sldId id="266" r:id="rId17"/>
    <p:sldId id="268" r:id="rId18"/>
    <p:sldId id="270" r:id="rId19"/>
    <p:sldId id="269" r:id="rId20"/>
    <p:sldId id="271" r:id="rId21"/>
    <p:sldId id="272" r:id="rId22"/>
    <p:sldId id="273" r:id="rId23"/>
    <p:sldId id="274" r:id="rId24"/>
    <p:sldId id="275" r:id="rId25"/>
    <p:sldId id="288" r:id="rId26"/>
    <p:sldId id="276" r:id="rId27"/>
    <p:sldId id="281" r:id="rId28"/>
    <p:sldId id="277" r:id="rId29"/>
    <p:sldId id="282" r:id="rId30"/>
    <p:sldId id="278" r:id="rId31"/>
    <p:sldId id="283" r:id="rId32"/>
    <p:sldId id="279" r:id="rId33"/>
    <p:sldId id="28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A15B2-C94A-D5EC-AAA4-976F78D05078}" v="128" dt="2025-01-20T13:08:09.435"/>
    <p1510:client id="{FD601CEE-8D17-8FB1-A34A-F4F8E135F085}" v="14" dt="2025-01-20T13:08:46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YOUR-USERNAME/YOUR-REPOSITOR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BF7915F-AC4E-3A8B-56FB-D415C674C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chemeClr val="accent2"/>
                </a:solidFill>
                <a:latin typeface="Aptos"/>
              </a:rPr>
              <a:t>Git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IN" sz="2000">
                <a:solidFill>
                  <a:schemeClr val="accent2"/>
                </a:solidFill>
                <a:ea typeface="+mn-lt"/>
                <a:cs typeface="+mn-lt"/>
              </a:rPr>
              <a:t>Git Introduction 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Coding with the GitHub Octocat - ORCID">
            <a:extLst>
              <a:ext uri="{FF2B5EF4-FFF2-40B4-BE49-F238E27FC236}">
                <a16:creationId xmlns:a16="http://schemas.microsoft.com/office/drawing/2014/main" id="{88D2159D-E52D-6C43-7DE1-232C8DF47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37" r="10737"/>
          <a:stretch/>
        </p:blipFill>
        <p:spPr>
          <a:xfrm>
            <a:off x="4961275" y="704970"/>
            <a:ext cx="6408836" cy="5440969"/>
          </a:xfrm>
          <a:prstGeom prst="rect">
            <a:avLst/>
          </a:prstGeom>
        </p:spPr>
      </p:pic>
      <p:sp>
        <p:nvSpPr>
          <p:cNvPr id="4" name="CustomShape 2">
            <a:extLst>
              <a:ext uri="{FF2B5EF4-FFF2-40B4-BE49-F238E27FC236}">
                <a16:creationId xmlns:a16="http://schemas.microsoft.com/office/drawing/2014/main" id="{B85241C6-5925-89BB-A75D-F9B2A34036A3}"/>
              </a:ext>
            </a:extLst>
          </p:cNvPr>
          <p:cNvSpPr/>
          <p:nvPr/>
        </p:nvSpPr>
        <p:spPr>
          <a:xfrm>
            <a:off x="1835760" y="3813018"/>
            <a:ext cx="8519760" cy="73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IN" sz="2400" b="0" strike="noStrike" spc="-1">
                <a:solidFill>
                  <a:srgbClr val="666666"/>
                </a:solidFill>
                <a:latin typeface="Proxima Nova"/>
                <a:ea typeface="Proxima Nova"/>
              </a:rPr>
              <a:t> 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C8B5A-8AA6-7407-5166-3E311AA0EBB3}"/>
              </a:ext>
            </a:extLst>
          </p:cNvPr>
          <p:cNvSpPr txBox="1"/>
          <p:nvPr/>
        </p:nvSpPr>
        <p:spPr>
          <a:xfrm>
            <a:off x="4110038" y="6858000"/>
            <a:ext cx="8081962" cy="3175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F680E-D862-E503-C67D-4EB612D1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  </a:t>
            </a:r>
            <a:r>
              <a:rPr lang="en-US" sz="4000">
                <a:solidFill>
                  <a:schemeClr val="accent2"/>
                </a:solidFill>
                <a:latin typeface="Aptos"/>
              </a:rPr>
              <a:t>What is git?</a:t>
            </a:r>
            <a:endParaRPr lang="en-US" sz="4000">
              <a:solidFill>
                <a:schemeClr val="accent2"/>
              </a:solidFill>
              <a:latin typeface="Aptos"/>
              <a:ea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BE3B-1FBD-8788-7EAA-4620A8249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latin typeface="Constantia"/>
                <a:ea typeface="+mn-lt"/>
                <a:cs typeface="+mn-lt"/>
              </a:rPr>
              <a:t>   </a:t>
            </a:r>
            <a:r>
              <a:rPr lang="en-US" sz="2000">
                <a:latin typeface="Gill Sans MT"/>
                <a:ea typeface="+mn-lt"/>
                <a:cs typeface="+mn-lt"/>
              </a:rPr>
              <a:t>Git is a free and open-source distributed version control system designed to handle everything from small to substantial projects with speed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288736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13161-7270-9B43-5131-615E956F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85" y="1161288"/>
            <a:ext cx="3756447" cy="1267948"/>
          </a:xfrm>
        </p:spPr>
        <p:txBody>
          <a:bodyPr anchor="ctr">
            <a:no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Create New Repository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D7DB2-CC72-8FA7-DC6F-56DEB63F2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</a:rPr>
              <a:t>Open any Project or folder in VS Code</a:t>
            </a:r>
            <a:endParaRPr lang="en-US" sz="1700">
              <a:highlight>
                <a:srgbClr val="FFFF00"/>
              </a:highlight>
              <a:latin typeface="Gill Sans MT"/>
            </a:endParaRPr>
          </a:p>
          <a:p>
            <a:r>
              <a:rPr lang="en-US" sz="1700">
                <a:latin typeface="Gill Sans MT"/>
              </a:rPr>
              <a:t>Go-to Source Control</a:t>
            </a:r>
            <a:endParaRPr lang="en-US" sz="1700">
              <a:highlight>
                <a:srgbClr val="FFFF00"/>
              </a:highlight>
              <a:latin typeface="Gill Sans MT"/>
            </a:endParaRPr>
          </a:p>
          <a:p>
            <a:r>
              <a:rPr lang="en-US" sz="1700">
                <a:latin typeface="Gill Sans MT"/>
              </a:rPr>
              <a:t>Click on Initialize Repository</a:t>
            </a:r>
            <a:endParaRPr lang="en-US" sz="1700">
              <a:highlight>
                <a:srgbClr val="FFFF00"/>
              </a:highlight>
              <a:latin typeface="Gill Sans MT"/>
            </a:endParaRPr>
          </a:p>
          <a:p>
            <a:r>
              <a:rPr lang="en-US" sz="1700">
                <a:latin typeface="Gill Sans MT"/>
              </a:rPr>
              <a:t>Add commit message and Click Publish</a:t>
            </a:r>
            <a:br>
              <a:rPr lang="en-US" sz="1700">
                <a:latin typeface="Gill Sans MT"/>
              </a:rPr>
            </a:br>
            <a:endParaRPr lang="en-US" sz="1700">
              <a:highlight>
                <a:srgbClr val="FFFF00"/>
              </a:highlight>
              <a:latin typeface="Gill Sans MT"/>
            </a:endParaRPr>
          </a:p>
          <a:p>
            <a:pPr marL="0" indent="0">
              <a:buNone/>
            </a:pPr>
            <a:endParaRPr lang="en-US" sz="1700">
              <a:highlight>
                <a:srgbClr val="FFFF00"/>
              </a:highlight>
              <a:latin typeface="Gill Sans MT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268ED11-10D0-00F5-53F2-24CCE1651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080" y="841248"/>
            <a:ext cx="6764215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BDFE7-1B46-9A49-8CD2-3611CE98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Cloning a repository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AC17F-FBD1-3EAD-2C97-3D8E9D8ED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1800">
                <a:latin typeface="Gill Sans MT"/>
              </a:rPr>
              <a:t>Open Visual Studio Code.</a:t>
            </a:r>
            <a:endParaRPr lang="en-US" sz="1800"/>
          </a:p>
          <a:p>
            <a:pPr marL="342900" indent="-342900"/>
            <a:r>
              <a:rPr lang="en-US" sz="1800">
                <a:latin typeface="Gill Sans MT"/>
              </a:rPr>
              <a:t>Click on source control.</a:t>
            </a:r>
          </a:p>
          <a:p>
            <a:pPr marL="342900" indent="-342900"/>
            <a:r>
              <a:rPr lang="en-US" sz="1800">
                <a:latin typeface="Gill Sans MT"/>
              </a:rPr>
              <a:t>Click on clone repository.</a:t>
            </a:r>
          </a:p>
          <a:p>
            <a:pPr marL="342900" indent="-342900"/>
            <a:r>
              <a:rPr lang="en-US" sz="1800">
                <a:latin typeface="Gill Sans MT"/>
              </a:rPr>
              <a:t>After that click on clone from </a:t>
            </a:r>
            <a:r>
              <a:rPr lang="en-US" sz="1800" err="1">
                <a:latin typeface="Gill Sans MT"/>
              </a:rPr>
              <a:t>github</a:t>
            </a:r>
            <a:r>
              <a:rPr lang="en-US" sz="1800">
                <a:latin typeface="Gill Sans MT"/>
              </a:rPr>
              <a:t>.</a:t>
            </a:r>
          </a:p>
          <a:p>
            <a:pPr marL="342900" indent="-342900"/>
            <a:r>
              <a:rPr lang="en-US" sz="1800">
                <a:latin typeface="Gill Sans MT"/>
              </a:rPr>
              <a:t>After that you need to add a repository name and click ok.</a:t>
            </a:r>
            <a:br>
              <a:rPr lang="en-US" sz="1700">
                <a:latin typeface="Gill Sans MT"/>
              </a:rPr>
            </a:br>
            <a:endParaRPr lang="en-US" sz="170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2710310-626A-45C6-8660-8866327E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4" t="-575" r="24083" b="24425"/>
          <a:stretch/>
        </p:blipFill>
        <p:spPr>
          <a:xfrm>
            <a:off x="4901184" y="2161210"/>
            <a:ext cx="6922008" cy="26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1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FD048-24AC-BD94-50CA-145F23C9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Cloning a repository by CLI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33A12-1062-ED4E-06EC-FEA880B88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</a:rPr>
              <a:t>The git clone command copies an existing Git repository. This copy is working git repository</a:t>
            </a:r>
            <a:endParaRPr lang="en-US" sz="1700">
              <a:latin typeface="Aptos" panose="020B0004020202020204"/>
            </a:endParaRPr>
          </a:p>
          <a:p>
            <a:r>
              <a:rPr lang="en-US" sz="1700">
                <a:highlight>
                  <a:srgbClr val="FFFF00"/>
                </a:highlight>
                <a:latin typeface="Gill Sans MT"/>
              </a:rPr>
              <a:t>Command: git clone </a:t>
            </a:r>
            <a:r>
              <a:rPr lang="en-US" sz="1700">
                <a:highlight>
                  <a:srgbClr val="FFFF00"/>
                </a:highlight>
                <a:latin typeface="Gill Sans MT"/>
                <a:hlinkClick r:id="rId2"/>
              </a:rPr>
              <a:t>https://github.com/YOUR-USERNAME/YOUR-REPOSITORY</a:t>
            </a: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r>
              <a:rPr lang="en-US" sz="1700">
                <a:latin typeface="Gill Sans MT"/>
              </a:rPr>
              <a:t> </a:t>
            </a:r>
            <a:br>
              <a:rPr lang="en-US" sz="1700">
                <a:latin typeface="Gill Sans MT"/>
              </a:rPr>
            </a:br>
            <a:r>
              <a:rPr lang="en-US" sz="1700">
                <a:latin typeface="Gill Sans MT"/>
              </a:rPr>
              <a:t>  </a:t>
            </a:r>
          </a:p>
        </p:txBody>
      </p:sp>
      <p:pic>
        <p:nvPicPr>
          <p:cNvPr id="4" name="Picture 3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7C1A246D-7F57-F468-6F1E-1DEA81ABE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04" y="2189708"/>
            <a:ext cx="6922008" cy="224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6A63-2CE7-A071-7EAA-67C7204D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  <a:latin typeface="Aptos"/>
              </a:rPr>
              <a:t>Rename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CA38-A640-248A-03CA-EDF1343E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1800">
                <a:latin typeface="Aptos Display"/>
                <a:ea typeface="+mn-lt"/>
                <a:cs typeface="+mn-lt"/>
              </a:rPr>
              <a:t>On GitHub, navigate to the main page of the repository.</a:t>
            </a: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Under your repository name, click </a:t>
            </a:r>
            <a:r>
              <a:rPr lang="en-US" sz="1800" b="1">
                <a:ea typeface="+mn-lt"/>
                <a:cs typeface="+mn-lt"/>
              </a:rPr>
              <a:t> Settings</a:t>
            </a:r>
            <a:r>
              <a:rPr lang="en-US" sz="1800">
                <a:ea typeface="+mn-lt"/>
                <a:cs typeface="+mn-lt"/>
              </a:rPr>
              <a:t>. If you cannot see the "Settings" tab, select the  dropdown menu, then click </a:t>
            </a:r>
            <a:r>
              <a:rPr lang="en-US" sz="1800" b="1">
                <a:ea typeface="+mn-lt"/>
                <a:cs typeface="+mn-lt"/>
              </a:rPr>
              <a:t>Settings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1800">
                <a:latin typeface="Aptos Display"/>
                <a:ea typeface="+mn-lt"/>
                <a:cs typeface="+mn-lt"/>
              </a:rPr>
              <a:t>In the </a:t>
            </a:r>
            <a:r>
              <a:rPr lang="en-US" sz="1800" b="1">
                <a:latin typeface="Aptos Display"/>
                <a:ea typeface="+mn-lt"/>
                <a:cs typeface="+mn-lt"/>
              </a:rPr>
              <a:t>Repository Name</a:t>
            </a:r>
            <a:r>
              <a:rPr lang="en-US" sz="1800">
                <a:latin typeface="Aptos Display"/>
                <a:ea typeface="+mn-lt"/>
                <a:cs typeface="+mn-lt"/>
              </a:rPr>
              <a:t> field, type the new name of your repository.</a:t>
            </a:r>
          </a:p>
          <a:p>
            <a:pPr>
              <a:buFont typeface="Arial"/>
              <a:buChar char="•"/>
            </a:pPr>
            <a:r>
              <a:rPr lang="en-US" sz="1800">
                <a:latin typeface="Aptos Display"/>
                <a:ea typeface="+mn-lt"/>
                <a:cs typeface="+mn-lt"/>
              </a:rPr>
              <a:t>Click </a:t>
            </a:r>
            <a:r>
              <a:rPr lang="en-US" sz="1800" b="1">
                <a:latin typeface="Aptos Display"/>
                <a:ea typeface="+mn-lt"/>
                <a:cs typeface="+mn-lt"/>
              </a:rPr>
              <a:t>Rename</a:t>
            </a:r>
            <a:r>
              <a:rPr lang="en-US" sz="1800">
                <a:latin typeface="Aptos Display"/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45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B62C9-8834-557B-1899-65F1B515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Stage a 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50B5-4F62-0B8B-E82A-309AA7EB9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  <a:ea typeface="+mn-lt"/>
                <a:cs typeface="+mn-lt"/>
              </a:rPr>
              <a:t>By selecting the '+' icon in the modifications area of the source control, you can stage a file. </a:t>
            </a:r>
            <a:endParaRPr lang="en-US" sz="1700">
              <a:latin typeface="Gill Sans MT"/>
            </a:endParaRPr>
          </a:p>
          <a:p>
            <a:r>
              <a:rPr lang="en-US" sz="1700">
                <a:highlight>
                  <a:srgbClr val="FFFF00"/>
                </a:highlight>
                <a:latin typeface="Gill Sans MT"/>
                <a:cs typeface="Arial"/>
              </a:rPr>
              <a:t>Command: git add .</a:t>
            </a:r>
          </a:p>
          <a:p>
            <a:r>
              <a:rPr lang="en-US" sz="1700">
                <a:latin typeface="Gill Sans MT"/>
                <a:ea typeface="+mn-lt"/>
                <a:cs typeface="+mn-lt"/>
              </a:rPr>
              <a:t>Go to Source Control, go to the changes and click on '+' icon.</a:t>
            </a:r>
          </a:p>
          <a:p>
            <a:pPr marL="0" indent="0">
              <a:buNone/>
            </a:pPr>
            <a:br>
              <a:rPr lang="en-US" sz="1700">
                <a:latin typeface="Gill Sans MT"/>
                <a:cs typeface="Arial"/>
              </a:rPr>
            </a:br>
            <a:endParaRPr lang="en-US" sz="1700">
              <a:latin typeface="Gill Sans MT"/>
              <a:cs typeface="Arial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3B9E851-4E1B-1AB7-33E9-307A04F6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7" t="-169" r="71387" b="54915"/>
          <a:stretch/>
        </p:blipFill>
        <p:spPr>
          <a:xfrm>
            <a:off x="5383744" y="841248"/>
            <a:ext cx="5956888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7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53FC59-F112-4443-CC75-A8B57F44E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 err="1">
                <a:solidFill>
                  <a:schemeClr val="accent2"/>
                </a:solidFill>
                <a:latin typeface="Aptos"/>
              </a:rPr>
              <a:t>Unstage</a:t>
            </a:r>
            <a:r>
              <a:rPr lang="en-US" sz="2800">
                <a:solidFill>
                  <a:schemeClr val="accent2"/>
                </a:solidFill>
                <a:latin typeface="Aptos"/>
              </a:rPr>
              <a:t> a 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23612-4BFF-0323-F7A6-9295485B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  <a:ea typeface="+mn-lt"/>
                <a:cs typeface="+mn-lt"/>
              </a:rPr>
              <a:t>By selecting the '-' icon in the staged changes area of the source control, you can </a:t>
            </a:r>
            <a:r>
              <a:rPr lang="en-US" sz="1700" err="1">
                <a:latin typeface="Gill Sans MT"/>
                <a:ea typeface="+mn-lt"/>
                <a:cs typeface="+mn-lt"/>
              </a:rPr>
              <a:t>unstage</a:t>
            </a:r>
            <a:r>
              <a:rPr lang="en-US" sz="1700">
                <a:latin typeface="Gill Sans MT"/>
                <a:ea typeface="+mn-lt"/>
                <a:cs typeface="+mn-lt"/>
              </a:rPr>
              <a:t> a file. </a:t>
            </a:r>
            <a:endParaRPr lang="en-US"/>
          </a:p>
          <a:p>
            <a:pPr>
              <a:buNone/>
            </a:pPr>
            <a:endParaRPr lang="en-US" sz="1700">
              <a:latin typeface="Gill Sans MT"/>
            </a:endParaRP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7B6048B-17B7-A127-E3F2-B6942E75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" r="70168" b="35421"/>
          <a:stretch/>
        </p:blipFill>
        <p:spPr>
          <a:xfrm>
            <a:off x="6194487" y="841248"/>
            <a:ext cx="4335402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9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DBC08-6957-2CDA-DF16-92235419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Commit code in the git</a:t>
            </a:r>
            <a:endParaRPr lang="en-US" sz="2800">
              <a:solidFill>
                <a:schemeClr val="accent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4D1B-E52C-11D4-C029-7FC3ACF3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latin typeface="Gill Sans MT"/>
                <a:ea typeface="Verdana"/>
              </a:rPr>
              <a:t>Since we have finished our work, we are ready move from </a:t>
            </a:r>
            <a:r>
              <a:rPr lang="en-US" sz="1600">
                <a:latin typeface="Gill Sans MT"/>
              </a:rPr>
              <a:t>stage</a:t>
            </a:r>
            <a:r>
              <a:rPr lang="en-US" sz="1600">
                <a:latin typeface="Gill Sans MT"/>
                <a:ea typeface="Verdana"/>
              </a:rPr>
              <a:t> to </a:t>
            </a:r>
            <a:r>
              <a:rPr lang="en-US" sz="1600">
                <a:latin typeface="Gill Sans MT"/>
              </a:rPr>
              <a:t>commit</a:t>
            </a:r>
            <a:r>
              <a:rPr lang="en-US" sz="1600">
                <a:latin typeface="Gill Sans MT"/>
                <a:ea typeface="Verdana"/>
              </a:rPr>
              <a:t> for our repo.</a:t>
            </a:r>
          </a:p>
          <a:p>
            <a:r>
              <a:rPr lang="en-US" sz="1600">
                <a:latin typeface="Gill Sans MT"/>
                <a:ea typeface="Verdana"/>
              </a:rPr>
              <a:t>Adding commits keep track of our progress and changes as we work. Git considers each commit change point or "save point". It is a point in the project you can go back to if you find a bug, or want to make a change.</a:t>
            </a:r>
          </a:p>
          <a:p>
            <a:r>
              <a:rPr lang="en-US" sz="1600">
                <a:latin typeface="Gill Sans MT"/>
                <a:ea typeface="Verdana"/>
              </a:rPr>
              <a:t>When we commit, we should </a:t>
            </a:r>
            <a:r>
              <a:rPr lang="en-US" sz="1600" b="1">
                <a:latin typeface="Gill Sans MT"/>
                <a:ea typeface="Verdana"/>
              </a:rPr>
              <a:t>always</a:t>
            </a:r>
            <a:r>
              <a:rPr lang="en-US" sz="1600">
                <a:latin typeface="Gill Sans MT"/>
                <a:ea typeface="Verdana"/>
              </a:rPr>
              <a:t> include a </a:t>
            </a:r>
            <a:r>
              <a:rPr lang="en-US" sz="1600" b="1">
                <a:latin typeface="Gill Sans MT"/>
                <a:ea typeface="Verdana"/>
              </a:rPr>
              <a:t>message</a:t>
            </a:r>
            <a:r>
              <a:rPr lang="en-US" sz="1600">
                <a:latin typeface="Gill Sans MT"/>
                <a:ea typeface="Verdana"/>
              </a:rPr>
              <a:t>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9F24F1-C9D7-A45C-1D11-F12F044E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6" t="3505" r="21991" b="32500"/>
          <a:stretch/>
        </p:blipFill>
        <p:spPr>
          <a:xfrm>
            <a:off x="4870292" y="1775936"/>
            <a:ext cx="6819051" cy="29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01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F34F0-43C6-E9C2-A65E-B442C51A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Push changes to remote repository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DCDEB-6AE1-5D28-8962-D3C2242C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</a:rPr>
              <a:t>The git command allows you to send data to other repositories. By default it sends data from your current branch to the same branch of the repository.</a:t>
            </a:r>
            <a:endParaRPr lang="en-US" sz="1700"/>
          </a:p>
          <a:p>
            <a:r>
              <a:rPr lang="en-US" sz="1700">
                <a:highlight>
                  <a:srgbClr val="FFFF00"/>
                </a:highlight>
                <a:latin typeface="Gill Sans MT"/>
              </a:rPr>
              <a:t>Command: Git push.</a:t>
            </a:r>
            <a:endParaRPr lang="en-US" sz="1700">
              <a:latin typeface="Gill Sans MT"/>
            </a:endParaRPr>
          </a:p>
          <a:p>
            <a:r>
              <a:rPr lang="en-US" sz="1700">
                <a:latin typeface="Gill Sans MT"/>
              </a:rPr>
              <a:t>Go to Source Control, click the three dots, and then click Push.</a:t>
            </a: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br>
              <a:rPr lang="en-US" sz="1700">
                <a:latin typeface="Gill Sans MT"/>
              </a:rPr>
            </a:br>
            <a:endParaRPr lang="en-US" sz="1700">
              <a:latin typeface="Gill Sans MT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7C58F0A-304C-6C80-9CDB-E6FFDE5B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62" y="841248"/>
            <a:ext cx="6434252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5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D75CE-08E7-CEF5-63CD-B6282C54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Fetch changes to remote repository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90EB2-88A7-910F-4804-2B935AE4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sz="1700">
              <a:latin typeface="Gill Sans MT"/>
            </a:endParaRPr>
          </a:p>
          <a:p>
            <a:r>
              <a:rPr lang="en-US" sz="1700">
                <a:latin typeface="Gill Sans MT"/>
              </a:rPr>
              <a:t>Git fetch is a command that retrieves updates from a remote repository but does not merge them with your local branch. It’s like downloading the latest changes without applying them directly to your working directory.</a:t>
            </a:r>
          </a:p>
          <a:p>
            <a:r>
              <a:rPr lang="en-US" sz="1700">
                <a:highlight>
                  <a:srgbClr val="FFFF00"/>
                </a:highlight>
                <a:latin typeface="Gill Sans MT"/>
              </a:rPr>
              <a:t>Command: Git fetch.</a:t>
            </a:r>
          </a:p>
          <a:p>
            <a:r>
              <a:rPr lang="en-US" sz="1700">
                <a:latin typeface="Gill Sans MT"/>
              </a:rPr>
              <a:t>Go to Source Control, click the three dots, and then click Fetch.</a:t>
            </a: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endParaRPr lang="en-US" sz="1700">
              <a:highlight>
                <a:srgbClr val="FFFF00"/>
              </a:highlight>
              <a:latin typeface="Gill Sans MT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3D206C-0B0F-E627-AF35-8F4C3949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21" y="1424667"/>
            <a:ext cx="7135586" cy="449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3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D75CE-08E7-CEF5-63CD-B6282C54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Pull changes to remote repository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90EB2-88A7-910F-4804-2B935AE4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>
              <a:latin typeface="Gill Sans MT"/>
            </a:endParaRPr>
          </a:p>
          <a:p>
            <a:r>
              <a:rPr lang="en-US" sz="1700">
                <a:solidFill>
                  <a:srgbClr val="1F1F1F"/>
                </a:solidFill>
                <a:latin typeface="Gill Sans MT"/>
                <a:ea typeface="+mn-lt"/>
                <a:cs typeface="+mn-lt"/>
              </a:rPr>
              <a:t>The git pull command is </a:t>
            </a:r>
            <a:r>
              <a:rPr lang="en-US" sz="1700">
                <a:solidFill>
                  <a:srgbClr val="040C28"/>
                </a:solidFill>
                <a:latin typeface="Gill Sans MT"/>
                <a:ea typeface="+mn-lt"/>
                <a:cs typeface="+mn-lt"/>
              </a:rPr>
              <a:t>used to fetch and download content from a remote repository and immediately update the local repository to match that content.</a:t>
            </a:r>
            <a:endParaRPr lang="en-US" sz="1600">
              <a:latin typeface="Gill Sans MT"/>
            </a:endParaRPr>
          </a:p>
          <a:p>
            <a:r>
              <a:rPr lang="en-US" sz="1700">
                <a:highlight>
                  <a:srgbClr val="FFFF00"/>
                </a:highlight>
                <a:latin typeface="Gill Sans MT"/>
              </a:rPr>
              <a:t>Command: Git pull.</a:t>
            </a:r>
          </a:p>
          <a:p>
            <a:r>
              <a:rPr lang="en-US" sz="1700">
                <a:latin typeface="Gill Sans MT"/>
              </a:rPr>
              <a:t>Go to Source Control, click the three dots, and then click Pull.</a:t>
            </a: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endParaRPr lang="en-US" sz="1700">
              <a:highlight>
                <a:srgbClr val="FFFF00"/>
              </a:highlight>
              <a:latin typeface="Gill Sans MT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3463887-98DE-9297-0021-1BF84CC1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903" y="841248"/>
            <a:ext cx="5978569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34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365A8-7647-37B8-848B-A8388481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How to take a stash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D3E82-A341-56A3-6608-E5E81A2E7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latin typeface="Gill Sans MT"/>
              </a:rPr>
              <a:t>The Git stash command can be used to accomplish this if a developer is working on a project and wants to preserve the changes without committing them.</a:t>
            </a:r>
            <a:endParaRPr lang="en-US"/>
          </a:p>
          <a:p>
            <a:r>
              <a:rPr lang="en-US" sz="1600">
                <a:highlight>
                  <a:srgbClr val="FFFF00"/>
                </a:highlight>
                <a:latin typeface="Gill Sans MT"/>
              </a:rPr>
              <a:t>Command: git stash</a:t>
            </a:r>
          </a:p>
          <a:p>
            <a:r>
              <a:rPr lang="en-US" sz="1600">
                <a:latin typeface="Gill Sans MT"/>
              </a:rPr>
              <a:t>Navigate to Source Control, select the three dots, then select Stash. The name of the stash must then be provided in order to create a new stash.</a:t>
            </a:r>
            <a:br>
              <a:rPr lang="en-US" sz="1600">
                <a:latin typeface="Gill Sans MT"/>
              </a:rPr>
            </a:br>
            <a:br>
              <a:rPr lang="en-US" sz="1600">
                <a:latin typeface="Gill Sans MT"/>
              </a:rPr>
            </a:br>
            <a:endParaRPr lang="en-US" sz="1600">
              <a:latin typeface="Gill Sans MT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1170D0B-9B95-8603-EA7D-0E0AD18F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71910"/>
            <a:ext cx="6922008" cy="401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0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462C3-5F7C-4590-4901-8BC93ED6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List all the stashes</a:t>
            </a:r>
            <a:endParaRPr lang="en-US" sz="2800">
              <a:solidFill>
                <a:schemeClr val="accent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BA821D-D47E-CD13-FD49-EB690001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Gill Sans MT"/>
              </a:rPr>
              <a:t>You can list all stash by clicking on </a:t>
            </a:r>
            <a:r>
              <a:rPr lang="en-US" sz="1700">
                <a:highlight>
                  <a:srgbClr val="FFFF00"/>
                </a:highlight>
                <a:latin typeface="Gill Sans MT"/>
              </a:rPr>
              <a:t>Stash &gt; View Stash</a:t>
            </a:r>
            <a:r>
              <a:rPr lang="en-US" sz="1700">
                <a:latin typeface="Gill Sans MT"/>
              </a:rPr>
              <a:t>.</a:t>
            </a:r>
          </a:p>
          <a:p>
            <a:r>
              <a:rPr lang="en-US" sz="1700">
                <a:latin typeface="Gill Sans MT"/>
              </a:rPr>
              <a:t>Navigate to Source Control, select the three dots, then select Stash. After that click on View Stash.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640B09-8A39-53A3-AEDF-84C1C99AF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575740"/>
            <a:ext cx="6922008" cy="380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0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AC7D6-3E55-088F-31A1-544331E4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Apply a specific stash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8EEC-E817-2C08-AA31-83726756B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</a:rPr>
              <a:t>You can apply specific stash by clicking on </a:t>
            </a:r>
            <a:r>
              <a:rPr lang="en-US" sz="1700">
                <a:highlight>
                  <a:srgbClr val="FFFF00"/>
                </a:highlight>
                <a:latin typeface="Gill Sans MT"/>
              </a:rPr>
              <a:t>Apply Stash. </a:t>
            </a:r>
            <a:br>
              <a:rPr lang="en-US" sz="1700">
                <a:highlight>
                  <a:srgbClr val="FFFF00"/>
                </a:highlight>
                <a:latin typeface="Gill Sans MT"/>
              </a:rPr>
            </a:br>
            <a:r>
              <a:rPr lang="en-US" sz="1700">
                <a:latin typeface="Gill Sans MT"/>
              </a:rPr>
              <a:t>After that click on the stash name, that you want to apply to your branch</a:t>
            </a:r>
            <a:br>
              <a:rPr lang="en-US" sz="1700">
                <a:latin typeface="Gill Sans MT"/>
              </a:rPr>
            </a:br>
            <a:br>
              <a:rPr lang="en-US" sz="1700">
                <a:latin typeface="Gill Sans MT"/>
              </a:rPr>
            </a:br>
            <a:br>
              <a:rPr lang="en-US" sz="1700">
                <a:latin typeface="Gill Sans MT"/>
              </a:rPr>
            </a:br>
            <a:endParaRPr lang="en-US" sz="1700">
              <a:latin typeface="Gill Sans MT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C046B1D-5A4C-F0C1-69A3-CF05D128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311" y="1159693"/>
            <a:ext cx="6922008" cy="2440007"/>
          </a:xfrm>
          <a:prstGeom prst="rect">
            <a:avLst/>
          </a:prstGeom>
        </p:spPr>
      </p:pic>
      <p:pic>
        <p:nvPicPr>
          <p:cNvPr id="6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21D25A-7295-3F66-128B-A388A605D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923" y="4447708"/>
            <a:ext cx="6922008" cy="93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21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3F818-CA6C-A2C8-DCC8-530D073B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How to apply Latest stash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816F1-9259-DDE8-EFD4-38B55DF2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</a:rPr>
              <a:t>You can apply latest stash by clicking on </a:t>
            </a:r>
            <a:r>
              <a:rPr lang="en-US" sz="1700">
                <a:highlight>
                  <a:srgbClr val="FFFF00"/>
                </a:highlight>
                <a:latin typeface="Gill Sans MT"/>
              </a:rPr>
              <a:t>Apply Latest Stash</a:t>
            </a:r>
            <a:r>
              <a:rPr lang="en-US" sz="1700">
                <a:latin typeface="Gill Sans MT"/>
              </a:rPr>
              <a:t>.</a:t>
            </a:r>
            <a:endParaRPr lang="en-US"/>
          </a:p>
          <a:p>
            <a:r>
              <a:rPr lang="en-US" sz="1700">
                <a:latin typeface="Gill Sans MT"/>
              </a:rPr>
              <a:t>Navigate to Source Control, select the three dots, then select Stash. After that click on Apply Latest Stash. It will apply latest stash on the current branch.</a:t>
            </a:r>
            <a:br>
              <a:rPr lang="en-US" sz="1700">
                <a:latin typeface="Gill Sans MT"/>
              </a:rPr>
            </a:br>
            <a:endParaRPr lang="en-US" sz="1700">
              <a:latin typeface="Gill Sans MT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D7BF298-D2CD-F292-172F-AA9E2AB32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558434"/>
            <a:ext cx="6922008" cy="38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6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05DAF-8E4A-D5AD-FA22-A3DFD10A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2"/>
                </a:solidFill>
                <a:latin typeface="Aptos"/>
              </a:rPr>
              <a:t>List all the stashes by CLI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AB93-EC2C-F3C9-6F68-12ED3587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/>
            <a:r>
              <a:rPr lang="en-US" sz="2000">
                <a:latin typeface="Gill Sans MT"/>
              </a:rPr>
              <a:t>Below command is used to display a list of all stash entries.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latin typeface="Gill Sans MT"/>
              </a:rPr>
              <a:t> </a:t>
            </a:r>
            <a:r>
              <a:rPr lang="en-US" sz="2000">
                <a:highlight>
                  <a:srgbClr val="FFFF00"/>
                </a:highlight>
                <a:latin typeface="Gill Sans MT"/>
              </a:rPr>
              <a:t>Command: git stash list –all</a:t>
            </a:r>
            <a:endParaRPr lang="en-US" sz="2000"/>
          </a:p>
          <a:p>
            <a:pPr marL="342900" indent="-342900"/>
            <a:r>
              <a:rPr lang="en-US" sz="2000">
                <a:latin typeface="Gill Sans MT"/>
                <a:cs typeface="Arial"/>
              </a:rPr>
              <a:t>If your git stash history is long, you can choose to view an arbitrary number of the most recent entries by providing a number option.</a:t>
            </a:r>
            <a:endParaRPr lang="en-US" sz="2000">
              <a:latin typeface="Gill Sans MT"/>
            </a:endParaRPr>
          </a:p>
          <a:p>
            <a:pPr marL="0" indent="0">
              <a:buNone/>
            </a:pPr>
            <a:r>
              <a:rPr lang="en-US" sz="2000">
                <a:latin typeface="Gill Sans MT"/>
              </a:rPr>
              <a:t>     </a:t>
            </a:r>
            <a:r>
              <a:rPr lang="en-US" sz="2000">
                <a:highlight>
                  <a:srgbClr val="FFFF00"/>
                </a:highlight>
                <a:latin typeface="Gill Sans MT"/>
              </a:rPr>
              <a:t>git stash list -3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6253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5F6F6-475A-EC16-6471-9ACCCB1B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accent2"/>
                </a:solidFill>
                <a:latin typeface="Aptos"/>
              </a:rPr>
              <a:t>Drop/Clear a stash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3BB9E-49F1-7257-1F4A-106EF2CE4469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Proceed to source control. To drop all the stashes, select Drop all stashes after navigating to the stash option.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BF57381-E6F6-E750-277C-782EAE96F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1184" y="1688222"/>
            <a:ext cx="6922008" cy="358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00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1CDAB-07CC-CB53-0147-D4133258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  <a:latin typeface="Aptos"/>
              </a:rPr>
              <a:t>Drop/Clear a stash</a:t>
            </a:r>
            <a:br>
              <a:rPr lang="en-US" sz="2800">
                <a:solidFill>
                  <a:schemeClr val="accent2"/>
                </a:solidFill>
                <a:latin typeface="Aptos"/>
              </a:rPr>
            </a:br>
            <a:r>
              <a:rPr lang="en-US" sz="2800">
                <a:solidFill>
                  <a:schemeClr val="accent2"/>
                </a:solidFill>
                <a:latin typeface="Aptos"/>
              </a:rPr>
              <a:t>by CLI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F499C-455F-EFF3-697E-026A377AE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latin typeface="Gill Sans MT"/>
                <a:ea typeface="+mn-lt"/>
                <a:cs typeface="+mn-lt"/>
              </a:rPr>
              <a:t>To drop the most recent stash</a:t>
            </a:r>
            <a:br>
              <a:rPr lang="en-US" sz="1700">
                <a:latin typeface="Gill Sans MT"/>
                <a:ea typeface="+mn-lt"/>
                <a:cs typeface="+mn-lt"/>
              </a:rPr>
            </a:br>
            <a:r>
              <a:rPr lang="en-US" sz="1700">
                <a:highlight>
                  <a:srgbClr val="FFFF00"/>
                </a:highlight>
                <a:latin typeface="Gill Sans MT"/>
                <a:ea typeface="+mn-lt"/>
                <a:cs typeface="+mn-lt"/>
              </a:rPr>
              <a:t>git stash drop</a:t>
            </a:r>
            <a:endParaRPr lang="en-US" sz="1700">
              <a:highlight>
                <a:srgbClr val="FFFF00"/>
              </a:highlight>
              <a:latin typeface="Aptos"/>
            </a:endParaRPr>
          </a:p>
          <a:p>
            <a:endParaRPr lang="en-US" sz="1700">
              <a:highlight>
                <a:srgbClr val="FFFF00"/>
              </a:highlight>
              <a:latin typeface="Gill Sans MT"/>
            </a:endParaRPr>
          </a:p>
          <a:p>
            <a:r>
              <a:rPr lang="en-US" sz="1700">
                <a:latin typeface="Gill Sans MT"/>
              </a:rPr>
              <a:t>To clear all the stashes</a:t>
            </a:r>
            <a:br>
              <a:rPr lang="en-US" sz="1700">
                <a:latin typeface="Gill Sans MT"/>
              </a:rPr>
            </a:br>
            <a:r>
              <a:rPr lang="en-US" sz="1700">
                <a:highlight>
                  <a:srgbClr val="FFFF00"/>
                </a:highlight>
                <a:latin typeface="Gill Sans MT"/>
                <a:ea typeface="+mn-lt"/>
                <a:cs typeface="+mn-lt"/>
              </a:rPr>
              <a:t>git stash clear</a:t>
            </a:r>
            <a:endParaRPr lang="en-US" sz="1700">
              <a:highlight>
                <a:srgbClr val="FFFF00"/>
              </a:highlight>
              <a:latin typeface="Gill Sans MT"/>
            </a:endParaRPr>
          </a:p>
          <a:p>
            <a:endParaRPr lang="en-US" sz="1700">
              <a:latin typeface="Gill Sans MT"/>
            </a:endParaRPr>
          </a:p>
          <a:p>
            <a:endParaRPr lang="en-US" sz="1700">
              <a:latin typeface="Gill Sans MT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53DDED5-0620-4C1D-E183-BBA068F9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12" r="-415" b="199"/>
          <a:stretch/>
        </p:blipFill>
        <p:spPr>
          <a:xfrm>
            <a:off x="4901184" y="2533163"/>
            <a:ext cx="6922008" cy="189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6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45BBC4-B1C5-366A-C398-8EA20D27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2"/>
                </a:solidFill>
                <a:latin typeface="Aptos"/>
              </a:rPr>
              <a:t>What is branch??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D1CCD-A6A2-8096-0EE1-EB5948563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Gill Sans MT"/>
              </a:rPr>
              <a:t>Git allows you to create branches. Branches are named pointers to commit. You can work on different branches independently from each other. The default branch  is most often called master.</a:t>
            </a:r>
          </a:p>
        </p:txBody>
      </p:sp>
    </p:spTree>
    <p:extLst>
      <p:ext uri="{BB962C8B-B14F-4D97-AF65-F5344CB8AC3E}">
        <p14:creationId xmlns:p14="http://schemas.microsoft.com/office/powerpoint/2010/main" val="1791271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CE37B-0FF7-C7F0-0890-D09B3232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accent2"/>
                </a:solidFill>
                <a:latin typeface="Aptos Display"/>
              </a:rPr>
              <a:t>How to create a new 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155D3-7399-36FC-4FD7-1907C05957E3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Go to Source Control, pick the three dots, and then choose Branch. Next, select the "Create branch" option to start a new branch. Next, you must provide the name of the branch."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24146E8-AB89-1501-05E6-B1542DE6B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5324" y="841248"/>
            <a:ext cx="6473728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20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BB13A-39FA-F2A2-E023-0D894810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Create a new branch from specific branch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C8419-F258-AE48-CB42-59BEACB85FE0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Select Branch after selecting the three dots in Source Control. Choose the "Create branch from" option after that. The branch list from which you wish to create a new branch will be opened. To establish a new branch, please choose the branch you wish to work from. Please give the branch a specific name once it has been chosen. 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714CCD7C-9674-260E-1C3F-9C99E3B92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822" y="841248"/>
            <a:ext cx="6356732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8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3415A-B769-0BA2-91C3-71255D6D2E91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To create a new branch from the list of branches, refer to the screen grab above. 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7CB27CA-70F3-FF82-E912-7E73CB3B7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1184" y="2475600"/>
            <a:ext cx="6922008" cy="200738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57B41F-7F04-3FEC-8260-432CF6C1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</a:rPr>
              <a:t>Select branch to create from</a:t>
            </a:r>
            <a:endParaRPr lang="en-US" sz="2800" kern="120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7423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5ADFD-0404-DA66-4617-9D983598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2"/>
                </a:solidFill>
              </a:rPr>
              <a:t>Switch between branches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83FB90-C0CF-8849-1A24-0A97FF6C9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4149" y="1274265"/>
            <a:ext cx="5916603" cy="4309469"/>
          </a:xfrm>
        </p:spPr>
      </p:pic>
    </p:spTree>
    <p:extLst>
      <p:ext uri="{BB962C8B-B14F-4D97-AF65-F5344CB8AC3E}">
        <p14:creationId xmlns:p14="http://schemas.microsoft.com/office/powerpoint/2010/main" val="4210967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5ADFD-0404-DA66-4617-9D983598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2"/>
                </a:solidFill>
              </a:rPr>
              <a:t>Switch between branches by CLI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7CE94-B30E-6860-DA27-B597BCEC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00"/>
                </a:highlight>
                <a:latin typeface="Gill Sans MT"/>
              </a:rPr>
              <a:t>git fetch origin</a:t>
            </a:r>
            <a:r>
              <a:rPr lang="en-US" sz="2000">
                <a:latin typeface="Gill Sans MT"/>
              </a:rPr>
              <a:t> : This will fetch the branch</a:t>
            </a:r>
          </a:p>
          <a:p>
            <a:pPr marL="0" indent="0">
              <a:buNone/>
            </a:pPr>
            <a:r>
              <a:rPr lang="en-US" sz="2000">
                <a:latin typeface="Gill Sans MT"/>
              </a:rPr>
              <a:t>
</a:t>
            </a:r>
            <a:r>
              <a:rPr lang="en-US" sz="2000">
                <a:highlight>
                  <a:srgbClr val="FFFF00"/>
                </a:highlight>
                <a:latin typeface="Gill Sans MT"/>
              </a:rPr>
              <a:t>git checkout branch_name</a:t>
            </a:r>
            <a:r>
              <a:rPr lang="en-US" sz="2000">
                <a:latin typeface="Gill Sans MT"/>
              </a:rPr>
              <a:t>: Switching the branch</a:t>
            </a:r>
          </a:p>
        </p:txBody>
      </p:sp>
    </p:spTree>
    <p:extLst>
      <p:ext uri="{BB962C8B-B14F-4D97-AF65-F5344CB8AC3E}">
        <p14:creationId xmlns:p14="http://schemas.microsoft.com/office/powerpoint/2010/main" val="495298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9F454-851F-EA14-E2DA-A8EAD5304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Rename a 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B9A9F-A982-542C-EC39-991C1126D32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Navigate to the source control. Click "Rename branch" after selecting "Branch." A text box will open as a result. As a result, we must change the branch name to the new one. 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DBC8DA6-4D0A-8907-858C-1C70EE1AB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4296" y="841248"/>
            <a:ext cx="6615783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32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BA39F03C-3173-70CF-0E47-534CDBD37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5335" y="1124218"/>
            <a:ext cx="9677400" cy="3409950"/>
          </a:xfrm>
        </p:spPr>
      </p:pic>
    </p:spTree>
    <p:extLst>
      <p:ext uri="{BB962C8B-B14F-4D97-AF65-F5344CB8AC3E}">
        <p14:creationId xmlns:p14="http://schemas.microsoft.com/office/powerpoint/2010/main" val="1630769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A9482-A125-2969-93AF-95009739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Delete a branch</a:t>
            </a:r>
            <a:endParaRPr lang="en-US" sz="2800" kern="12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3F80D-D1F3-D25D-DAD8-AE1901BD61D4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Navigate to the source control. Click "Delete branch" after selecting "Delete Branch."  Please select the branch from the list of all the branches that you want to delete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ECE14238-E1B2-9F05-51CE-CC6E256D8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4559" y="841248"/>
            <a:ext cx="6395257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38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2236B4E-C747-5843-BEC7-20F80A84B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337" y="1562979"/>
            <a:ext cx="10515600" cy="3164739"/>
          </a:xfrm>
        </p:spPr>
      </p:pic>
    </p:spTree>
    <p:extLst>
      <p:ext uri="{BB962C8B-B14F-4D97-AF65-F5344CB8AC3E}">
        <p14:creationId xmlns:p14="http://schemas.microsoft.com/office/powerpoint/2010/main" val="3590649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A3010-EF32-0844-EED9-4D9F63C2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</a:rPr>
              <a:t>Merge branches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E0D86-CFE3-E711-8189-3D5D348E2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latin typeface="Gill Sans MT"/>
              </a:rPr>
              <a:t>The git merge command performs a merge. You can merge changes from one branch to the current active one via the following command.</a:t>
            </a:r>
            <a:br>
              <a:rPr lang="en-US" sz="1700">
                <a:latin typeface="Gill Sans MT"/>
              </a:rPr>
            </a:br>
            <a:br>
              <a:rPr lang="en-US" sz="1700">
                <a:latin typeface="Gill Sans MT"/>
              </a:rPr>
            </a:br>
            <a:endParaRPr lang="en-US" sz="1700">
              <a:latin typeface="Gill Sans MT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E51706B-4CA7-1443-0E08-EAB99C35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64" t="5271" r="1827" b="22629"/>
          <a:stretch/>
        </p:blipFill>
        <p:spPr>
          <a:xfrm>
            <a:off x="4901184" y="1326945"/>
            <a:ext cx="6922008" cy="430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28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9D05030-468A-4497-225C-AB93E9F3D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052234"/>
            <a:ext cx="10905066" cy="275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60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9E32B-82DF-B9AC-3DAA-644AFBB1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chemeClr val="accent2"/>
                </a:solidFill>
              </a:rPr>
              <a:t>Resolve merge conflicts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585C-F4B7-B76D-D4E4-2EDB5EF64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latin typeface="Gill Sans MT"/>
              </a:rPr>
              <a:t>A conflict during a merge operation occurs if commits from different branches have been modified the same content and git can not automatically determine how both changes should be combined when merging these branches.</a:t>
            </a:r>
            <a:br>
              <a:rPr lang="en-US" sz="1700">
                <a:latin typeface="Gill Sans MT"/>
              </a:rPr>
            </a:br>
            <a:br>
              <a:rPr lang="en-US" sz="1700">
                <a:latin typeface="Gill Sans MT"/>
              </a:rPr>
            </a:br>
            <a:endParaRPr lang="en-US" sz="1700">
              <a:latin typeface="Gill Sans MT"/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815EF10-8282-E426-D267-7C4B59F3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982408"/>
            <a:ext cx="6922008" cy="299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63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63EAB-8437-1FB6-1208-0B1DA2F7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you..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93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Git</vt:lpstr>
      <vt:lpstr>  What is git?</vt:lpstr>
      <vt:lpstr>Create New Repository</vt:lpstr>
      <vt:lpstr>Cloning a repository</vt:lpstr>
      <vt:lpstr>Cloning a repository by CLI</vt:lpstr>
      <vt:lpstr>Rename remote repository</vt:lpstr>
      <vt:lpstr>Stage a file</vt:lpstr>
      <vt:lpstr>Unstage a file</vt:lpstr>
      <vt:lpstr>Commit code in the git</vt:lpstr>
      <vt:lpstr>Push changes to remote repository</vt:lpstr>
      <vt:lpstr>Fetch changes to remote repository</vt:lpstr>
      <vt:lpstr>Pull changes to remote repository</vt:lpstr>
      <vt:lpstr>How to take a stash</vt:lpstr>
      <vt:lpstr>List all the stashes</vt:lpstr>
      <vt:lpstr>Apply a specific stash</vt:lpstr>
      <vt:lpstr>How to apply Latest stash</vt:lpstr>
      <vt:lpstr>List all the stashes by CLI</vt:lpstr>
      <vt:lpstr>Drop/Clear a stash</vt:lpstr>
      <vt:lpstr>Drop/Clear a stash by CLI</vt:lpstr>
      <vt:lpstr>What is branch??</vt:lpstr>
      <vt:lpstr>How to create a new branch</vt:lpstr>
      <vt:lpstr>Create a new branch from specific branch</vt:lpstr>
      <vt:lpstr>Select branch to create from</vt:lpstr>
      <vt:lpstr>Switch between branches</vt:lpstr>
      <vt:lpstr>Switch between branches by CLI</vt:lpstr>
      <vt:lpstr>Rename a branch</vt:lpstr>
      <vt:lpstr>PowerPoint Presentation</vt:lpstr>
      <vt:lpstr>Delete a branch</vt:lpstr>
      <vt:lpstr>PowerPoint Presentation</vt:lpstr>
      <vt:lpstr>Merge branches</vt:lpstr>
      <vt:lpstr>PowerPoint Presentation</vt:lpstr>
      <vt:lpstr>Resolve merge conflicts</vt:lpstr>
      <vt:lpstr>Thank you..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2024-12-11T12:13:30Z</dcterms:created>
  <dcterms:modified xsi:type="dcterms:W3CDTF">2025-01-20T17:27:46Z</dcterms:modified>
</cp:coreProperties>
</file>