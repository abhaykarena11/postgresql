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58" r:id="rId3"/>
    <p:sldId id="260" r:id="rId4"/>
    <p:sldId id="344" r:id="rId5"/>
    <p:sldId id="346" r:id="rId6"/>
    <p:sldId id="347" r:id="rId7"/>
    <p:sldId id="348" r:id="rId8"/>
    <p:sldId id="358" r:id="rId9"/>
    <p:sldId id="360" r:id="rId10"/>
    <p:sldId id="361" r:id="rId11"/>
    <p:sldId id="349" r:id="rId12"/>
    <p:sldId id="329" r:id="rId13"/>
    <p:sldId id="354" r:id="rId14"/>
    <p:sldId id="355" r:id="rId15"/>
    <p:sldId id="356" r:id="rId16"/>
    <p:sldId id="357" r:id="rId17"/>
    <p:sldId id="353" r:id="rId18"/>
    <p:sldId id="351" r:id="rId19"/>
    <p:sldId id="352" r:id="rId20"/>
    <p:sldId id="362" r:id="rId21"/>
    <p:sldId id="364" r:id="rId22"/>
    <p:sldId id="366" r:id="rId23"/>
    <p:sldId id="36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5427B-51AE-7225-9918-5C7C69C595D2}" v="1" dt="2026-01-05T05:50:38.837"/>
    <p1510:client id="{8AB0347C-176E-5718-5D51-E4C6A0787008}" v="657" dt="2026-01-05T05:47:02.551"/>
    <p1510:client id="{9DD4AB38-41A5-8BE3-C4E6-974FFA2C99A1}" v="118" dt="2026-01-05T07:46:40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5E8B-2173-41BD-A1E8-A09032916A7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9EEFC-CAB2-4E98-AB79-DDEFA6028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79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6">
            <a:extLst>
              <a:ext uri="{FF2B5EF4-FFF2-40B4-BE49-F238E27FC236}">
                <a16:creationId xmlns:a16="http://schemas.microsoft.com/office/drawing/2014/main" id="{94AE5F4B-5D4C-6028-A080-0469A2E7D5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0247865-7BCC-45DB-ACDA-FE3D5709AB2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4515" name="Text Box 1">
            <a:extLst>
              <a:ext uri="{FF2B5EF4-FFF2-40B4-BE49-F238E27FC236}">
                <a16:creationId xmlns:a16="http://schemas.microsoft.com/office/drawing/2014/main" id="{60C56270-02AE-4BEB-8752-4C93AD742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9532829B-9ABB-4F30-95F9-A6848C7C2FD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C6022673-B306-65EC-3A35-5DBF878FD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D7B28BF9-8126-C465-7460-80E21205A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6">
            <a:extLst>
              <a:ext uri="{FF2B5EF4-FFF2-40B4-BE49-F238E27FC236}">
                <a16:creationId xmlns:a16="http://schemas.microsoft.com/office/drawing/2014/main" id="{A48D4E03-6CA4-7D38-27CC-78A69ECA44F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74713D7-2344-4ACE-A4F1-2717482A236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6563" name="Text Box 1">
            <a:extLst>
              <a:ext uri="{FF2B5EF4-FFF2-40B4-BE49-F238E27FC236}">
                <a16:creationId xmlns:a16="http://schemas.microsoft.com/office/drawing/2014/main" id="{3861BC40-F3D5-2822-F3AE-398526830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DFEB3A1D-E50A-478D-B7E7-3EAF3AECF1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C3FF1D21-DCCB-FF19-9ADC-A4ECACC77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F22F8E4B-AF0B-BEFE-2F13-BF5C6A7A0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101CB6E3-FBAA-011E-7963-72479181C2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1D3B6FA5-04D2-A221-04A0-9D5D3340C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9A286893-1421-9DE6-A932-6D2115BAD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E8E88DFA-DD6E-3012-25D3-5BE5800CA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2DFC5-CA2D-780A-B41E-65BEC454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F50568E3-7D60-F029-9D74-675D436744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B37788F9-3F6E-ACC0-2B7D-53ECC2B84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4D0C35EC-B9F2-3BCE-AF12-F569356EA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E99AB4B2-645B-9119-39ED-BBDBE257D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54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27985B-10B6-A849-A4F7-07C7CD3D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7B378146-286B-F400-7FEE-4F21069975C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1CAD66A8-B990-F00D-E54E-2B31B9547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EDD8A86D-23AF-1752-5FAA-A383860C9F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44D47BEA-D1D0-FC98-08F6-0E73C9B60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582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3C604-B421-EFDF-1DD6-904FDB23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1039E9CC-1230-5DBF-1F5E-ED2645C1A34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CBFB54D1-45A5-7471-2266-15402A9EC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ECD54305-B7D5-4C4E-A040-678EF04568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DEB61F3E-3047-966A-8425-09AC1A30D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81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3D6A7-9600-2C49-345F-F617F8C8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8D70CB13-227A-774E-6E91-001B529C0C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339B8126-392C-BEEC-84ED-6478B2797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AC1720FA-51D0-3DA8-F7DA-3B3487F0F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FAABA5FB-7AD8-B37D-69AC-900760185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90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416A4-4865-B61B-4646-B1076F4B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DC6AC12D-21C6-0C1A-CF25-7A4469302BD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6978B099-ABD2-CAAF-A521-ED6BCD4E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CC9718F0-3DDA-5715-37B5-1241371F5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AAD08EC3-06DE-A72A-EAC6-D335E345B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581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81E2F-3863-D294-FF37-384A0FD6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E212AF75-FCBC-90ED-5DAB-A12EF3D3760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974CDA02-3460-6232-E239-CD3A6A37E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C1E0C42-0682-974E-0FFE-0E45AC5991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CF1DDF6C-5784-47B3-0B1B-81A173DE9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656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7A010-1BC4-A063-265D-169B6B4C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C2709FCB-21E1-A419-D471-04C1C9E8AA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7A7B3358-71FE-57B0-AEC0-75ECA2767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F67F7F70-C929-662A-59E2-1FFA5D66CF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306DCC82-8401-4B15-E98A-1C3EE6F47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123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79664-82AD-7EDC-35E9-C7E871A8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7E5892F1-F6F3-08A9-9CCF-253C7131EF6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D62A879D-4742-2393-3A1F-E4844AD9D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8365FD5D-8243-238D-A2A9-8DDCF61F6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2F8B50AC-99F9-4092-AC15-96BF181EA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75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101CB6E3-FBAA-011E-7963-72479181C2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1D3B6FA5-04D2-A221-04A0-9D5D3340C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9A286893-1421-9DE6-A932-6D2115BAD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E8E88DFA-DD6E-3012-25D3-5BE5800CA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52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3A28A-939F-1EC3-637B-ACC635E5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C57BFA4A-4024-72A0-C5B8-96A86812918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4D3915A0-64EE-CB0F-EE30-6CECEFFB8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68F290B1-E02F-4D40-DBCC-605289332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2FC747D9-CAFD-2466-843D-221F46D37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077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11BCC-0F12-68C5-F69E-B7FD4A8C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7AC2DA50-B2C8-9800-C170-B96178D987F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A7453C40-A1D8-8B83-73E8-80D4AB981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77226AEA-9C47-781E-95E4-578D8C615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34683DDF-CCCF-47FB-5ACE-EA4E8BBB1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41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7F9B6-0E38-015C-98D7-E0C136D7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F3423F91-87C2-38CA-8302-17FD746197C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CCF7CD30-EF36-39C0-81A2-18C7E95F9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4737E95B-CA01-968B-2C47-CF89F9C39D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55E302C3-68E7-5960-D625-40043A67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82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89F32-8436-7CA6-EB43-CE68E794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4E3181A0-AA1E-6F8F-3DB7-884021ECBB5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C65F8199-55AB-C481-9CC2-CD3B5FA31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C4F9475-4158-606A-5F7E-945E966BE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75155BB1-3789-EE28-3E2C-9340C5D17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721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EDFFF-5D21-4738-D67D-E19184AB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532D4937-7EBE-24FC-76FA-59C3F75F83D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4886422F-38E7-B6F6-40C9-3013E9155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8DA9B067-1763-6EF1-A9A6-90ED756D2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401B0A47-A0F4-36E6-A3B0-1DE292D23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620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7B2B6-FDF2-A0EF-3395-B717A076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D99B96E9-2175-72B2-9D99-ED46E489FE7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DFCF6128-DE47-D96F-416A-DA89FAB61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F87B01F-81C2-E580-395B-4EB8929A4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F43C36A9-2118-6AC5-5A87-57948F461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30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2220-3A69-D264-244F-FAD48FF0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1E854AE5-7293-A049-0697-A74CE4B16DD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D0B6F170-832F-B544-A879-3F3BF8989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6BEAD9CA-91A7-EA19-EF4B-EA7A7BBCD1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E7A23D38-93A3-675A-6F0D-6C184B381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390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4C534-D97B-1374-B5A2-7CE7CE77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561FFDE7-F5C5-469E-7D6B-99F0DF8A847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23C51C7A-4F60-4D03-02D5-7E80011A2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DE840EE-BD6C-2D1C-F381-67EE88595D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29477354-F95E-3037-B313-4C0C82896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6841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EB2DB-CA0F-3E35-40A9-FC0C7BC5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82BABCD9-003F-4394-2620-62995C2BA29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FEEC7515-3E45-E995-20E8-F8F60DDD4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FF5CDF0-A92F-D6DC-B6E9-9A43F92CE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69003A6E-C3F1-8FA0-019E-2C5F3CF6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412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7260B-E153-AFC3-DB01-6CCCCE80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6D45B809-7234-52AF-8629-0CBD62E9D22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EEE1B6B4-901C-4854-E55F-3408649EC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9DBE8D35-0CB3-8BC5-95AC-BF7385E4B8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4BB21379-3176-AF04-A6B5-4E304A80C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613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64A7E-1862-42EC-08BD-D1030BF5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6">
            <a:extLst>
              <a:ext uri="{FF2B5EF4-FFF2-40B4-BE49-F238E27FC236}">
                <a16:creationId xmlns:a16="http://schemas.microsoft.com/office/drawing/2014/main" id="{933C080E-6747-A130-B18A-FA1BC218E02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14FC43A7-33EB-4927-853C-861BFC7B86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1" name="Text Box 1">
            <a:extLst>
              <a:ext uri="{FF2B5EF4-FFF2-40B4-BE49-F238E27FC236}">
                <a16:creationId xmlns:a16="http://schemas.microsoft.com/office/drawing/2014/main" id="{56260704-903C-A205-4491-7719ADE6D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332E1112-CD00-4278-9973-150C7B4387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4C0B0A29-A55F-9FB2-B58D-F16267FAC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03D9AC41-0B05-8D73-9767-97ABB1F15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17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6">
            <a:extLst>
              <a:ext uri="{FF2B5EF4-FFF2-40B4-BE49-F238E27FC236}">
                <a16:creationId xmlns:a16="http://schemas.microsoft.com/office/drawing/2014/main" id="{85CDB2E4-6A1C-18D4-BCEB-AB0A6096F4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802C71EB-216B-49AF-8C15-CCFF3040825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70659" name="Text Box 1">
            <a:extLst>
              <a:ext uri="{FF2B5EF4-FFF2-40B4-BE49-F238E27FC236}">
                <a16:creationId xmlns:a16="http://schemas.microsoft.com/office/drawing/2014/main" id="{44F6966F-E248-9D5D-BCDB-CF31BF758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0B266E11-EF95-4C29-831A-292BD5353ED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 Unicode MS" pitchFamily="34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 Unicode MS" pitchFamily="34" charset="-128"/>
            </a:endParaRP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7A766D7D-B774-BC6F-E76F-9C9489FEE8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61" name="Rectangle 3">
            <a:extLst>
              <a:ext uri="{FF2B5EF4-FFF2-40B4-BE49-F238E27FC236}">
                <a16:creationId xmlns:a16="http://schemas.microsoft.com/office/drawing/2014/main" id="{EA1ABFC6-9F4F-F163-E0F1-9656113BE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B1EA9-8FD7-94B3-C666-8F10F49736B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45A5DE-BFA5-459C-B37E-B1171133DF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469AC-934C-9D03-6D97-44AA483F99E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12B89C9-06C7-49DE-90BF-6379C8761B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76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736B9-8EE4-C5CD-D77D-57B96F9A398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D99955-1F79-4079-AE28-79C8A7C1A4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41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374217" cy="451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7" y="1600200"/>
            <a:ext cx="5374216" cy="451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33B3A2-129C-43A9-5846-6231D44ECF6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8EFE0F-B698-418B-BD2A-EAAD3CC125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16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16A65A3-9ACB-C2C1-A315-74C6354C438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EE10C4-47DB-4545-BAF2-292CE126C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445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2AED42-C8BE-5C50-BE45-15A2B1E03D1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1C1011-99B0-4D5C-8D17-D18C2C2AFC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33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32343C5-665F-BDAE-287B-8C2012C03A4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066865-B45B-4BD6-9B5F-6F5FD3AD2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73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C325B9-28DC-63A9-32C7-D6C4BBE7C4D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BC4BCB-AB54-4A35-ACA6-678D5EC9D5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35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91F108-210B-DA11-235E-A696086A097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4076AD8-8378-4DF9-8531-24D5ABA87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7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78833-D72C-0B6A-1B32-11EE1CB708A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C0E915-6056-42FC-A831-36949A12E8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06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24385" y="274638"/>
            <a:ext cx="2736849" cy="5835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11584" cy="5835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76345-9E09-76CE-E340-1FBBE33EDC3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AA1836-7F21-49AB-9CD2-3BC5998663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81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999DC870-5D09-C138-5809-42F00FEF0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274639"/>
            <a:ext cx="10951633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3A48BCB8-2D1D-8015-D058-0043D2F7C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0"/>
            <a:ext cx="10951633" cy="451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9B66707-AF17-D832-7A31-573586F15DF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09601" y="6381751"/>
            <a:ext cx="2823633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DCBF1C4-299D-4E5B-8A2D-76084A404C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29" name="Picture 4">
            <a:extLst>
              <a:ext uri="{FF2B5EF4-FFF2-40B4-BE49-F238E27FC236}">
                <a16:creationId xmlns:a16="http://schemas.microsoft.com/office/drawing/2014/main" id="{E0E6A010-3E62-FD06-6E9B-F7B6FE876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1932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>
            <a:extLst>
              <a:ext uri="{FF2B5EF4-FFF2-40B4-BE49-F238E27FC236}">
                <a16:creationId xmlns:a16="http://schemas.microsoft.com/office/drawing/2014/main" id="{1B9116DD-474B-002D-F39A-2CAB73E0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04" y="11152"/>
            <a:ext cx="7883939" cy="123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defTabSz="45720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bg1"/>
                </a:solidFill>
                <a:latin typeface="Calibri"/>
                <a:ea typeface="SimSun"/>
                <a:cs typeface="Arial"/>
              </a:rPr>
              <a:t>Welcome to TatvaSoft</a:t>
            </a:r>
            <a:endParaRPr lang="en-US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83478F54-3142-2136-F373-9D55921EC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886200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1200">
              <a:solidFill>
                <a:srgbClr val="FFFFFF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>
            <a:extLst>
              <a:ext uri="{FF2B5EF4-FFF2-40B4-BE49-F238E27FC236}">
                <a16:creationId xmlns:a16="http://schemas.microsoft.com/office/drawing/2014/main" id="{F2B76284-9916-A4A7-359D-DE4C82B4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5" y="-5044"/>
            <a:ext cx="12182464" cy="1338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defTabSz="457200"/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 Comprehensive Comparison: MSSQL Server vs PostgreSQL</a:t>
            </a:r>
            <a:endParaRPr lang="en-US" sz="6700">
              <a:latin typeface="Arial"/>
              <a:ea typeface="SimSun"/>
              <a:cs typeface="Arial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F7D4390-4E45-29FB-7215-F0948FEE2567}"/>
              </a:ext>
            </a:extLst>
          </p:cNvPr>
          <p:cNvSpPr>
            <a:spLocks noGrp="1"/>
          </p:cNvSpPr>
          <p:nvPr/>
        </p:nvSpPr>
        <p:spPr>
          <a:xfrm>
            <a:off x="6546987" y="2667946"/>
            <a:ext cx="5338219" cy="33197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>
                <a:cs typeface="Arial"/>
              </a:rPr>
              <a:t>MS SQL Server Overview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600">
                <a:cs typeface="Arial"/>
              </a:rPr>
              <a:t>MS SQL Server is a proprietary RDBMS known for enterprise features, Microsoft integration, and security.</a:t>
            </a:r>
            <a:endParaRPr lang="en-US" sz="1600">
              <a:cs typeface="Arial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>
                <a:cs typeface="Arial"/>
              </a:rPr>
              <a:t>PostgreSQL Overview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600">
                <a:cs typeface="Arial"/>
              </a:rPr>
              <a:t>PostgreSQL is an open-source object-relational database emphasizing extensibility and SQL standards compliance.</a:t>
            </a:r>
            <a:endParaRPr lang="en-US" sz="1600">
              <a:cs typeface="Arial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>
                <a:cs typeface="Arial"/>
              </a:rPr>
              <a:t>Key Differences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600">
                <a:cs typeface="Arial"/>
              </a:rPr>
              <a:t>MS SQL Server and PostgreSQL differ in licensing, cost, scalability, and customization options.</a:t>
            </a:r>
            <a:endParaRPr lang="en-US" sz="1600">
              <a:cs typeface="Arial"/>
            </a:endParaRPr>
          </a:p>
        </p:txBody>
      </p:sp>
      <p:pic>
        <p:nvPicPr>
          <p:cNvPr id="16" name="Picture 15" descr="Businesswoman holding placard with coins in front of technology icons">
            <a:extLst>
              <a:ext uri="{FF2B5EF4-FFF2-40B4-BE49-F238E27FC236}">
                <a16:creationId xmlns:a16="http://schemas.microsoft.com/office/drawing/2014/main" id="{A78C8748-840A-966F-EE1C-6AE0F1655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52" y="1313756"/>
            <a:ext cx="4691904" cy="492792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072FF12-48BF-AD50-A508-F1B536370AAE}"/>
              </a:ext>
            </a:extLst>
          </p:cNvPr>
          <p:cNvSpPr>
            <a:spLocks noGrp="1"/>
          </p:cNvSpPr>
          <p:nvPr/>
        </p:nvSpPr>
        <p:spPr>
          <a:xfrm>
            <a:off x="6546987" y="1548078"/>
            <a:ext cx="4695217" cy="9176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Introduction to MS SQL Server and PostgreSQL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D475F96A-A492-79C0-FAD5-1E61F3F0B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C6F367-3341-9C0B-E745-4D4316292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89430"/>
              </p:ext>
            </p:extLst>
          </p:nvPr>
        </p:nvGraphicFramePr>
        <p:xfrm>
          <a:off x="790754" y="1437735"/>
          <a:ext cx="10724886" cy="4638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9073">
                  <a:extLst>
                    <a:ext uri="{9D8B030D-6E8A-4147-A177-3AD203B41FA5}">
                      <a16:colId xmlns:a16="http://schemas.microsoft.com/office/drawing/2014/main" val="3205426857"/>
                    </a:ext>
                  </a:extLst>
                </a:gridCol>
                <a:gridCol w="4044162">
                  <a:extLst>
                    <a:ext uri="{9D8B030D-6E8A-4147-A177-3AD203B41FA5}">
                      <a16:colId xmlns:a16="http://schemas.microsoft.com/office/drawing/2014/main" val="1994732039"/>
                    </a:ext>
                  </a:extLst>
                </a:gridCol>
                <a:gridCol w="4111651">
                  <a:extLst>
                    <a:ext uri="{9D8B030D-6E8A-4147-A177-3AD203B41FA5}">
                      <a16:colId xmlns:a16="http://schemas.microsoft.com/office/drawing/2014/main" val="2050872591"/>
                    </a:ext>
                  </a:extLst>
                </a:gridCol>
              </a:tblGrid>
              <a:tr h="557162"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</a:rPr>
                        <a:t>Aspect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</a:rPr>
                        <a:t>MS SQL Server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77896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Full Name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Microsoft SQL Server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PostgreSQL (Postgres)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501950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Developed By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Microsoft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PostgreSQL Global Development Group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33209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Initial Release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1989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1996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211422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License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Proprietary (Commercial)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Open-source (PostgreSQL License)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605687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Cost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Paid (Free limited editions)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Completely free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464370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Supported Platforms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Windows, Linux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Windows, Linux, macOS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04747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Type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u="none" strike="noStrike" noProof="0">
                          <a:effectLst/>
                        </a:rPr>
                        <a:t>Relational DBMS (RDBMS)</a:t>
                      </a: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u="none" strike="noStrike" noProof="0">
                          <a:effectLst/>
                        </a:rPr>
                        <a:t>RDBMS manages data using tables only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u="none" strike="noStrike" noProof="0">
                          <a:effectLst/>
                        </a:rPr>
                        <a:t>Object-Relational DBMS (</a:t>
                      </a:r>
                      <a:r>
                        <a:rPr lang="en-US" sz="1400">
                          <a:effectLst/>
                        </a:rPr>
                        <a:t>ORDBMS)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u="none" strike="noStrike" noProof="0">
                          <a:effectLst/>
                        </a:rPr>
                        <a:t>ORDBMS extends RDBMS by adding object-oriented features like inheritance and user-defined types.</a:t>
                      </a:r>
                      <a:endParaRPr lang="en-US" sz="1400">
                        <a:effectLst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2462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BBE647-A380-8B7D-B1EC-E1397A52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271F5272-02BA-1EFF-97C1-08463E6F4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Features Cont.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3C297D-8F75-7674-1E48-79BC4F161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661140"/>
              </p:ext>
            </p:extLst>
          </p:nvPr>
        </p:nvGraphicFramePr>
        <p:xfrm>
          <a:off x="862641" y="1437735"/>
          <a:ext cx="10542320" cy="45952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63774">
                  <a:extLst>
                    <a:ext uri="{9D8B030D-6E8A-4147-A177-3AD203B41FA5}">
                      <a16:colId xmlns:a16="http://schemas.microsoft.com/office/drawing/2014/main" val="3205426857"/>
                    </a:ext>
                  </a:extLst>
                </a:gridCol>
                <a:gridCol w="3657070">
                  <a:extLst>
                    <a:ext uri="{9D8B030D-6E8A-4147-A177-3AD203B41FA5}">
                      <a16:colId xmlns:a16="http://schemas.microsoft.com/office/drawing/2014/main" val="1994732039"/>
                    </a:ext>
                  </a:extLst>
                </a:gridCol>
                <a:gridCol w="4021476">
                  <a:extLst>
                    <a:ext uri="{9D8B030D-6E8A-4147-A177-3AD203B41FA5}">
                      <a16:colId xmlns:a16="http://schemas.microsoft.com/office/drawing/2014/main" val="2050872591"/>
                    </a:ext>
                  </a:extLst>
                </a:gridCol>
              </a:tblGrid>
              <a:tr h="557162"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Aspect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77896"/>
                  </a:ext>
                </a:extLst>
              </a:tr>
              <a:tr h="861785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rial"/>
                        </a:rPr>
                        <a:t>SQL Compliance (</a:t>
                      </a:r>
                      <a:r>
                        <a:rPr lang="en-US" sz="1400" b="0">
                          <a:effectLst/>
                          <a:latin typeface="Arial"/>
                        </a:rPr>
                        <a:t>D</a:t>
                      </a:r>
                      <a:r>
                        <a:rPr lang="en-US" sz="1400" b="0" i="0" u="none" strike="noStrike" noProof="0">
                          <a:effectLst/>
                        </a:rPr>
                        <a:t>atabase system follows the official SQL standards</a:t>
                      </a:r>
                      <a:r>
                        <a:rPr lang="en-US" sz="1400" b="1">
                          <a:effectLst/>
                          <a:latin typeface="Arial"/>
                        </a:rPr>
                        <a:t>)</a:t>
                      </a:r>
                      <a:endParaRPr lang="en-US" sz="1400"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High (with T-SQL extensions)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Very high (close to SQL standard)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435839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marL="0" lvl="0" algn="l" defTabSz="914400" rtl="0" eaLnBrk="1" fontAlgn="base" latinLnBrk="0" hangingPunct="1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Query Language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rtl="0" eaLnBrk="1" fontAlgn="base" latinLnBrk="0" hangingPunct="1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T-SQL (Transact-SQL)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rtl="0" eaLnBrk="1" fontAlgn="base" latinLnBrk="0" hangingPunct="1">
                        <a:lnSpc>
                          <a:spcPts val="825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SQL + PL/</a:t>
                      </a:r>
                      <a:r>
                        <a:rPr lang="en-US" sz="1400" kern="120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pgSQL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 (Support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Multiple languages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501950"/>
                  </a:ext>
                </a:extLst>
              </a:tr>
              <a:tr h="604761">
                <a:tc>
                  <a:txBody>
                    <a:bodyPr/>
                    <a:lstStyle/>
                    <a:p>
                      <a:pPr marL="0" lvl="0" algn="l" defTabSz="914400" rtl="0" eaLnBrk="1" fontAlgn="base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Stored Procedures</a:t>
                      </a: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base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Yes (T-SQL)</a:t>
                      </a: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fontAlgn="base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Yes (PL/</a:t>
                      </a:r>
                      <a:r>
                        <a:rPr lang="en-US" sz="1400" kern="120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pgSQL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, Python, Perl, etc.)</a:t>
                      </a: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33209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Index Types</a:t>
                      </a:r>
                      <a:endParaRPr lang="en-US"/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Clustered, Non-clustered</a:t>
                      </a: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B-Tree, Hash, GIN, </a:t>
                      </a:r>
                      <a:r>
                        <a:rPr lang="en-US" sz="1400" kern="120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GiST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, BRIN</a:t>
                      </a: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11422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marL="0" lvl="0" algn="l" defTabSz="91440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Partitioning</a:t>
                      </a:r>
                      <a:endParaRPr lang="en-US" b="1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Supported (table &amp; index)</a:t>
                      </a:r>
                      <a:endParaRPr lang="en-US"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Native table partitioning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605687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JSON Support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Limited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Advanced JSON &amp; JSONB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64370"/>
                  </a:ext>
                </a:extLst>
              </a:tr>
              <a:tr h="514304"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 Tools</a:t>
                      </a:r>
                      <a:endParaRPr lang="en-US" sz="1400" b="1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effectLst/>
                          <a:latin typeface="Arial"/>
                        </a:rPr>
                        <a:t>SSMS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noProof="0" err="1">
                          <a:effectLst/>
                        </a:rPr>
                        <a:t>pgAdmin</a:t>
                      </a:r>
                      <a:r>
                        <a:rPr lang="en-US" sz="1400" b="0" i="0" u="none" strike="noStrike" noProof="0">
                          <a:effectLst/>
                        </a:rPr>
                        <a:t>, </a:t>
                      </a:r>
                      <a:r>
                        <a:rPr lang="en-US" sz="1400" b="0" i="0" u="none" strike="noStrike" noProof="0" err="1">
                          <a:effectLst/>
                        </a:rPr>
                        <a:t>DBeaver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04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06012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AB4990-B25E-A84C-2224-863A733D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2CB0EBDC-FBCB-E35D-09EB-441773960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Features Cont.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F8DE21-7B34-4702-3373-83F4675C0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44836"/>
              </p:ext>
            </p:extLst>
          </p:nvPr>
        </p:nvGraphicFramePr>
        <p:xfrm>
          <a:off x="865812" y="1583411"/>
          <a:ext cx="10563036" cy="15225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30788">
                  <a:extLst>
                    <a:ext uri="{9D8B030D-6E8A-4147-A177-3AD203B41FA5}">
                      <a16:colId xmlns:a16="http://schemas.microsoft.com/office/drawing/2014/main" val="3205426857"/>
                    </a:ext>
                  </a:extLst>
                </a:gridCol>
                <a:gridCol w="3682647">
                  <a:extLst>
                    <a:ext uri="{9D8B030D-6E8A-4147-A177-3AD203B41FA5}">
                      <a16:colId xmlns:a16="http://schemas.microsoft.com/office/drawing/2014/main" val="1994732039"/>
                    </a:ext>
                  </a:extLst>
                </a:gridCol>
                <a:gridCol w="4049601">
                  <a:extLst>
                    <a:ext uri="{9D8B030D-6E8A-4147-A177-3AD203B41FA5}">
                      <a16:colId xmlns:a16="http://schemas.microsoft.com/office/drawing/2014/main" val="2050872591"/>
                    </a:ext>
                  </a:extLst>
                </a:gridCol>
              </a:tblGrid>
              <a:tr h="530337"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Aspect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975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77896"/>
                  </a:ext>
                </a:extLst>
              </a:tr>
              <a:tr h="496123"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Support</a:t>
                      </a:r>
                      <a:endParaRPr lang="en-US" sz="1400" b="1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noProof="0">
                          <a:effectLst/>
                        </a:rPr>
                        <a:t>Azure SQL, AWS RDS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noProof="0">
                          <a:effectLst/>
                        </a:rPr>
                        <a:t>AWS RDS, Google Cloud SQL, Azure</a:t>
                      </a:r>
                      <a:endParaRPr lang="en-US"/>
                    </a:p>
                  </a:txBody>
                  <a:tcPr marL="71247" marR="71247" marT="71247" marB="7124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01950"/>
                  </a:ext>
                </a:extLst>
              </a:tr>
              <a:tr h="496123"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Extensibility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Limited</a:t>
                      </a:r>
                      <a:endParaRPr lang="en-US"/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High (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PostGIS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TimescaleDB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/>
                    </a:p>
                  </a:txBody>
                  <a:tcPr marL="71246" marR="71246" marT="71246" marB="7124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3320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1DA72-E402-B925-A5A2-D5E0C6AF834F}"/>
              </a:ext>
            </a:extLst>
          </p:cNvPr>
          <p:cNvSpPr>
            <a:spLocks noGrp="1"/>
          </p:cNvSpPr>
          <p:nvPr/>
        </p:nvSpPr>
        <p:spPr>
          <a:xfrm>
            <a:off x="882307" y="3725526"/>
            <a:ext cx="10542825" cy="16088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sz="1800" b="1">
                <a:cs typeface="Arial"/>
              </a:rPr>
              <a:t>Summary</a:t>
            </a:r>
            <a:endParaRPr lang="en-US" sz="1800"/>
          </a:p>
          <a:p>
            <a:pPr marL="285750" lvl="1" indent="-285750">
              <a:lnSpc>
                <a:spcPct val="150000"/>
              </a:lnSpc>
            </a:pPr>
            <a:r>
              <a:rPr lang="en-US" sz="1600">
                <a:cs typeface="Arial"/>
              </a:rPr>
              <a:t>Choose MS SQL Server if you need enterprise-grade features, tight Microsoft ecosystem integration, and commercial support.</a:t>
            </a:r>
          </a:p>
          <a:p>
            <a:pPr marL="285750" lvl="1" indent="-285750">
              <a:lnSpc>
                <a:spcPct val="150000"/>
              </a:lnSpc>
            </a:pPr>
            <a:r>
              <a:rPr lang="en-US" sz="1600">
                <a:cs typeface="Arial"/>
              </a:rPr>
              <a:t>Choose PostgreSQL if you prefer open-source, cost-effective, highly extensible, and standards-compliant databases.</a:t>
            </a:r>
          </a:p>
        </p:txBody>
      </p:sp>
    </p:spTree>
    <p:extLst>
      <p:ext uri="{BB962C8B-B14F-4D97-AF65-F5344CB8AC3E}">
        <p14:creationId xmlns:p14="http://schemas.microsoft.com/office/powerpoint/2010/main" val="194364719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2CC45A-22C3-9C11-2A2C-7089B80C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182327D6-5366-E08D-865B-C4716AF8E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D2D14C-8D06-D1A2-6376-E43DB171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358980"/>
              </p:ext>
            </p:extLst>
          </p:nvPr>
        </p:nvGraphicFramePr>
        <p:xfrm>
          <a:off x="892342" y="1383631"/>
          <a:ext cx="10881466" cy="47416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4150">
                  <a:extLst>
                    <a:ext uri="{9D8B030D-6E8A-4147-A177-3AD203B41FA5}">
                      <a16:colId xmlns:a16="http://schemas.microsoft.com/office/drawing/2014/main" val="315617699"/>
                    </a:ext>
                  </a:extLst>
                </a:gridCol>
                <a:gridCol w="4510896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3926420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95491"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kern="1200" cap="all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Use Case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 (T-SQL)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393095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Schema Default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dbo</a:t>
                      </a:r>
                      <a:endParaRPr lang="en-US" sz="1400" b="0" i="0" u="none" strike="noStrike" kern="1200" err="1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80692"/>
                  </a:ext>
                </a:extLst>
              </a:tr>
              <a:tr h="438452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Select With Limit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TOP 10 * FROM users;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* FROM users LIMIT 10;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11959"/>
                  </a:ext>
                </a:extLst>
              </a:tr>
              <a:tr h="619880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Pagination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* FROM users ORDER BY id OFFSET 10 ROWS FETCH NEXT 10 ROWS ONLY;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* FROM users ORDER BY id LIMIT 10 OFFSET 10;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32561"/>
                  </a:ext>
                </a:extLst>
              </a:tr>
              <a:tr h="398812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Current Date &amp; Time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GETDATE()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NOW()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or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olas"/>
                        </a:rPr>
                        <a:t>CURRENT_TIMESTAMP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942038"/>
                  </a:ext>
                </a:extLst>
              </a:tr>
              <a:tr h="574523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Current Date Only</a:t>
                      </a:r>
                      <a:endParaRPr lang="en-US" b="1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effectLst/>
                          <a:latin typeface="Arial"/>
                        </a:rPr>
                        <a:t>CAST(GETDATE() AS DATE) 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effectLst/>
                          <a:latin typeface="Arial"/>
                        </a:rPr>
                        <a:t>CONVERT(DATE, GETDATE())</a:t>
                      </a: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CURRENT_DATE</a:t>
                      </a: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8896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Date Difference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DATEDIFF(day, d1, d2)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d2 - d1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92542"/>
                  </a:ext>
                </a:extLst>
              </a:tr>
              <a:tr h="668976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Auto-Increment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TABLE users (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id INT IDENTITY(1,1) PRIMARY KEY,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name VARCHAR(100)</a:t>
                      </a:r>
                      <a:endParaRPr lang="en-US"/>
                    </a:p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);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TABLE users (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id SERIAL PRIMARY KEY,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name VARCHAR(100)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);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30353"/>
                  </a:ext>
                </a:extLst>
              </a:tr>
              <a:tr h="377976"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String Concatenation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'A' + 'B'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'A ' || 'B'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7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9053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73D3F6-185F-F24D-6518-DBCF8789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35573A3F-222E-2931-6E77-763D0979E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 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3E1459-057D-357A-E8CF-0FE5E73F6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34253"/>
              </p:ext>
            </p:extLst>
          </p:nvPr>
        </p:nvGraphicFramePr>
        <p:xfrm>
          <a:off x="790544" y="1432871"/>
          <a:ext cx="10881466" cy="47517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4150">
                  <a:extLst>
                    <a:ext uri="{9D8B030D-6E8A-4147-A177-3AD203B41FA5}">
                      <a16:colId xmlns:a16="http://schemas.microsoft.com/office/drawing/2014/main" val="315617699"/>
                    </a:ext>
                  </a:extLst>
                </a:gridCol>
                <a:gridCol w="4510896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3926420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67228"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kern="1200" cap="all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Use Case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 (T-SQL)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467227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Null Handling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ISNULL(col,0) or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COALESCE(col,0)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COALESCE(col,0)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34674"/>
                  </a:ext>
                </a:extLst>
              </a:tr>
              <a:tr h="467227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If Condition</a:t>
                      </a:r>
                      <a:endParaRPr lang="en-US" b="1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(@a &gt; 10) PRINT 'OK';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&gt; 10 THEN RAISE NOTICE 'OK'; END IF;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32596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Case-Insensitive Search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olas"/>
                        </a:rPr>
                        <a:t>LIKE '%john%'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(depends on collation)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ILIKE '%john%'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80692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Boolean Values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/ 0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 / FALSE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32561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String Length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LEN(name)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LENGTH(name)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58212"/>
                  </a:ext>
                </a:extLst>
              </a:tr>
              <a:tr h="1406071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Update With Join</a:t>
                      </a:r>
                      <a:endParaRPr lang="en-US" b="1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UPDATE 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SET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e.salary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=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d.new_salary</a:t>
                      </a:r>
                      <a:endParaRPr lang="en-US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FROM employees 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JOIN departments d 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= d.id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= 1;</a:t>
                      </a: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UPDATE employees 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SET salary =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d.new_salary</a:t>
                      </a:r>
                      <a:endParaRPr lang="en-US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FROM departments d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= d.id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 AND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= true;</a:t>
                      </a: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88962"/>
                  </a:ext>
                </a:extLst>
              </a:tr>
              <a:tr h="438452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Temporary Table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TABLE #temp (id INT);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TEMP TABLE temp (id INT);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47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8558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BDDB37-88F3-8538-91E1-E21F6279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E6FFEF23-3E3F-7443-BD1F-8F0C1F6CF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 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02FAD9-F724-0196-15F2-7BDA0DCBD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108805"/>
              </p:ext>
            </p:extLst>
          </p:nvPr>
        </p:nvGraphicFramePr>
        <p:xfrm>
          <a:off x="891396" y="1466489"/>
          <a:ext cx="10881466" cy="41713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4150">
                  <a:extLst>
                    <a:ext uri="{9D8B030D-6E8A-4147-A177-3AD203B41FA5}">
                      <a16:colId xmlns:a16="http://schemas.microsoft.com/office/drawing/2014/main" val="315617699"/>
                    </a:ext>
                  </a:extLst>
                </a:gridCol>
                <a:gridCol w="4510896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3926420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67228"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kern="1200" cap="all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Use Case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 (T-SQL)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Delete With Join</a:t>
                      </a: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DELETE 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FROM employees 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JOIN departments d 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d.id</a:t>
                      </a:r>
                      <a:endParaRPr lang="en-US">
                        <a:latin typeface="Arial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0;</a:t>
                      </a:r>
                      <a:endParaRPr lang="en-US"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DELETE FROM employees e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USING departments d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 = d.id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  AND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 = false;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30353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Cast Data Type</a:t>
                      </a:r>
                      <a:endParaRPr lang="en-US" b="1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CAST(col AS VARCHAR)</a:t>
                      </a:r>
                      <a:b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CONVERT(VARCHAR, col)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09" marR="78609" marT="78609" marB="7860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825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olas"/>
                        </a:rPr>
                        <a:t>col::VARCHAR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or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olas"/>
                        </a:rPr>
                        <a:t>CAST(col AS VARCHAR)</a:t>
                      </a:r>
                      <a:endParaRPr lang="en-US"/>
                    </a:p>
                  </a:txBody>
                  <a:tcPr marL="78609" marR="78609" marT="78609" marB="7860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21189"/>
                  </a:ext>
                </a:extLst>
              </a:tr>
              <a:tr h="1935238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UPSERT</a:t>
                      </a:r>
                      <a:endParaRPr lang="en-US" b="1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MERGE users AS t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source_table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 AS s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ON t.id = s.id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WHEN MATCHED THEN UPDATE SET name = s.name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WHEN NOT MATCHED THEN INSERT (id, name) VALUES (s.id, s.name);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INSERT INTO users (id, name)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VALUES (1, 'John')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ON CONFLICT (id)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DO UPDATE SET name = EXCLUDED.name;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9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830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11C169-E54D-8AF3-DEC9-F2BD7026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96FA2F0B-1A4F-F28A-0B75-974082764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 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A4C1C9-0702-94D9-7EF8-C4EB649B5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17467"/>
              </p:ext>
            </p:extLst>
          </p:nvPr>
        </p:nvGraphicFramePr>
        <p:xfrm>
          <a:off x="874058" y="1613647"/>
          <a:ext cx="10421076" cy="41378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4430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5226646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18578">
                <a:tc gridSpan="2"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 (T-SQL) </a:t>
                      </a:r>
                      <a:r>
                        <a:rPr lang="en-US" sz="1400" b="1" kern="1200" cap="all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- Transaction begin</a:t>
                      </a:r>
                      <a:endParaRPr lang="en-US" sz="1400" b="1" kern="1200" cap="all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371928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BEGIN TRY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BEGIN TRANSACTION;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1: Update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UPDATE employees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SET salary = salary + 5000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10;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2: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Savepoint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SAVE TRANSACTION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sp_after_update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;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>
                        <a:solidFill>
                          <a:schemeClr val="dk1"/>
                        </a:solidFill>
                        <a:effectLst/>
                        <a:latin typeface="Arial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endParaRPr lang="en-US" sz="14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3: Delete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DELETE e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FROM employees e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JOIN departments d 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d.id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0;</a:t>
                      </a:r>
                      <a:endParaRPr 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4: Rollback only delete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ROLLBACK TRANSACTION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sp_after_update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;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5: Commit update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COMMIT TRANSACTION;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END TRY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BEGIN CATCH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ROLLBACK TRANSACTION;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END CATCH;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88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7173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08A752-58BD-A6BB-2025-D9217051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5301D528-37D6-55F4-E02D-448FACF54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 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29F1BB-0E2A-CD3E-252A-EA865E501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60809"/>
              </p:ext>
            </p:extLst>
          </p:nvPr>
        </p:nvGraphicFramePr>
        <p:xfrm>
          <a:off x="907676" y="1613647"/>
          <a:ext cx="10602593" cy="43857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84907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5317686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18578">
                <a:tc gridSpan="2"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 </a:t>
                      </a:r>
                      <a:r>
                        <a:rPr lang="en-US" sz="1400" b="1" i="0" u="none" strike="noStrike" cap="all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 Transaction begin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38369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DO $$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BEGIN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BEGIN;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1: Update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UPDATE employees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SET salary = salary + 5000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10;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2: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Savepoint</a:t>
                      </a:r>
                      <a:endParaRPr lang="en-US" sz="1400" b="0" i="0" u="none" strike="noStrike" kern="1200" noProof="0" err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SAVEPOINT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sp_after_update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;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-- Step 3: Delete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DELETE FROM employees e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USING departments d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 WHERE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e.dept_id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d.id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      AND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d.active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= false;</a:t>
                      </a:r>
                      <a:endParaRPr lang="en-US"/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-- Step 4: Rollback only delete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ROLLBACK TO SAVEPOINT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sp_after_update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-- Step 5: Commit update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COMMIT;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EXCEPTION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WHEN OTHERS THEN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     -- Any error → rollback everything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     ROLLBACK;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     RAISE; -- rethrow error for logging/debugging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END;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$$;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>
                        <a:solidFill>
                          <a:schemeClr val="dk1"/>
                        </a:solidFill>
                        <a:effectLst/>
                        <a:latin typeface="Arial"/>
                      </a:endParaRPr>
                    </a:p>
                  </a:txBody>
                  <a:tcPr marL="78609" marR="78609" marT="78609" marB="7860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88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40099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7467EF-B4D0-37D6-AB9F-3D5AA8BA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5AEB0396-9855-9F4A-4511-A9B8E2419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" y="5438"/>
            <a:ext cx="12188443" cy="132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MS SQL Server vs PostgreSQL – Syntax Differences 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56F45-B3DF-6185-17F0-9EBD6113D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280780"/>
              </p:ext>
            </p:extLst>
          </p:nvPr>
        </p:nvGraphicFramePr>
        <p:xfrm>
          <a:off x="690113" y="1466490"/>
          <a:ext cx="11079279" cy="24398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88582">
                  <a:extLst>
                    <a:ext uri="{9D8B030D-6E8A-4147-A177-3AD203B41FA5}">
                      <a16:colId xmlns:a16="http://schemas.microsoft.com/office/drawing/2014/main" val="315617699"/>
                    </a:ext>
                  </a:extLst>
                </a:gridCol>
                <a:gridCol w="4592899">
                  <a:extLst>
                    <a:ext uri="{9D8B030D-6E8A-4147-A177-3AD203B41FA5}">
                      <a16:colId xmlns:a16="http://schemas.microsoft.com/office/drawing/2014/main" val="3630718312"/>
                    </a:ext>
                  </a:extLst>
                </a:gridCol>
                <a:gridCol w="3997798">
                  <a:extLst>
                    <a:ext uri="{9D8B030D-6E8A-4147-A177-3AD203B41FA5}">
                      <a16:colId xmlns:a16="http://schemas.microsoft.com/office/drawing/2014/main" val="1960189982"/>
                    </a:ext>
                  </a:extLst>
                </a:gridCol>
              </a:tblGrid>
              <a:tr h="418578"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kern="1200" cap="all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Use Case</a:t>
                      </a: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MS SQL Server (T-SQL)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cap="all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PostgreSQL</a:t>
                      </a:r>
                      <a:endParaRPr lang="en-US" sz="14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5758"/>
                  </a:ext>
                </a:extLst>
              </a:tr>
              <a:tr h="418578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Stored Procedure / Function</a:t>
                      </a:r>
                      <a:endParaRPr lang="en-US" b="1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PROCEDURE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get_users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AS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BEGIN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SELECT * FROM users;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END;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CREATE OR REPLACE FUNCTION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get_users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()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RETURNS TABLE(id INT, name TEXT)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AS $$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BEGIN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    RETURN QUERY SELECT * FROM users;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END;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$$ LANGUAGE </a:t>
                      </a:r>
                      <a:r>
                        <a:rPr lang="en-US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plpgsql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323155"/>
                  </a:ext>
                </a:extLst>
              </a:tr>
              <a:tr h="366257">
                <a:tc>
                  <a:txBody>
                    <a:bodyPr/>
                    <a:lstStyle/>
                    <a:p>
                      <a:pPr lvl="0">
                        <a:lnSpc>
                          <a:spcPts val="825"/>
                        </a:lnSpc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Print / Log Message</a:t>
                      </a:r>
                      <a:endParaRPr lang="en-US" b="1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PRINT 'Hello'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RAISE NOTICE 'Hello';</a:t>
                      </a:r>
                      <a:endParaRPr lang="en-US"/>
                    </a:p>
                  </a:txBody>
                  <a:tcPr marL="78610" marR="78610" marT="78610" marB="7861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303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787B63-CE63-CEF9-979B-FAD9A8148118}"/>
              </a:ext>
            </a:extLst>
          </p:cNvPr>
          <p:cNvSpPr txBox="1"/>
          <p:nvPr/>
        </p:nvSpPr>
        <p:spPr>
          <a:xfrm>
            <a:off x="691806" y="4538383"/>
            <a:ext cx="10430348" cy="184665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chemeClr val="tx2"/>
                </a:solidFill>
                <a:cs typeface="Arial"/>
              </a:rPr>
              <a:t>MS SQL Server</a:t>
            </a:r>
            <a:r>
              <a:rPr lang="en-US" sz="1600">
                <a:solidFill>
                  <a:schemeClr val="tx2"/>
                </a:solidFill>
                <a:cs typeface="Arial"/>
              </a:rPr>
              <a:t> uses </a:t>
            </a:r>
            <a:r>
              <a:rPr lang="en-US" sz="1600" b="1">
                <a:solidFill>
                  <a:schemeClr val="tx2"/>
                </a:solidFill>
                <a:cs typeface="Arial"/>
              </a:rPr>
              <a:t>T-SQL</a:t>
            </a:r>
            <a:r>
              <a:rPr lang="en-US" sz="1600">
                <a:solidFill>
                  <a:schemeClr val="tx2"/>
                </a:solidFill>
                <a:cs typeface="Arial"/>
              </a:rPr>
              <a:t> with Microsoft-specific keywords.</a:t>
            </a:r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PostgreSQL</a:t>
            </a:r>
            <a:r>
              <a:rPr lang="en-US" sz="1600">
                <a:ea typeface="+mn-lt"/>
                <a:cs typeface="+mn-lt"/>
              </a:rPr>
              <a:t> follows </a:t>
            </a:r>
            <a:r>
              <a:rPr lang="en-US" sz="1600" b="1">
                <a:ea typeface="+mn-lt"/>
                <a:cs typeface="+mn-lt"/>
              </a:rPr>
              <a:t>SQL standards more closely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cs typeface="Arial"/>
            </a:endParaRPr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PostgreSQL has </a:t>
            </a:r>
            <a:r>
              <a:rPr lang="en-US" sz="1600" b="1">
                <a:ea typeface="+mn-lt"/>
                <a:cs typeface="+mn-lt"/>
              </a:rPr>
              <a:t>simpler pagination, better JSON, and cleaner UPSERT syntax</a:t>
            </a:r>
            <a:endParaRPr lang="en-US" sz="1600">
              <a:ea typeface="SimSun"/>
              <a:cs typeface="+mn-lt"/>
            </a:endParaRPr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MS SQL has </a:t>
            </a:r>
            <a:r>
              <a:rPr lang="en-US" sz="1600" b="1">
                <a:ea typeface="+mn-lt"/>
                <a:cs typeface="+mn-lt"/>
              </a:rPr>
              <a:t>strong procedural control</a:t>
            </a:r>
            <a:r>
              <a:rPr lang="en-US" sz="1600">
                <a:ea typeface="+mn-lt"/>
                <a:cs typeface="+mn-lt"/>
              </a:rPr>
              <a:t> with T-SQL.</a:t>
            </a:r>
            <a:endParaRPr lang="en-US" sz="1600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9D234-78A1-98D3-0B80-1411B8122B25}"/>
              </a:ext>
            </a:extLst>
          </p:cNvPr>
          <p:cNvSpPr txBox="1"/>
          <p:nvPr/>
        </p:nvSpPr>
        <p:spPr>
          <a:xfrm>
            <a:off x="862853" y="4202206"/>
            <a:ext cx="6096000" cy="341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2500"/>
              </a:spcBef>
            </a:pPr>
            <a:r>
              <a:rPr lang="en-US" b="1">
                <a:solidFill>
                  <a:schemeClr val="tx2"/>
                </a:solidFill>
                <a:cs typeface="Arial"/>
              </a:rPr>
              <a:t>Key Syntax Takeaways</a:t>
            </a:r>
          </a:p>
        </p:txBody>
      </p:sp>
    </p:spTree>
    <p:extLst>
      <p:ext uri="{BB962C8B-B14F-4D97-AF65-F5344CB8AC3E}">
        <p14:creationId xmlns:p14="http://schemas.microsoft.com/office/powerpoint/2010/main" val="5465958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D475F96A-A492-79C0-FAD5-1E61F3F0B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 : </a:t>
            </a: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Security</a:t>
            </a:r>
            <a:endParaRPr lang="en-US" sz="2800">
              <a:solidFill>
                <a:srgbClr val="FFFFFF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49D3E-D656-9C89-911F-F5627960B209}"/>
              </a:ext>
            </a:extLst>
          </p:cNvPr>
          <p:cNvSpPr txBox="1"/>
          <p:nvPr/>
        </p:nvSpPr>
        <p:spPr>
          <a:xfrm>
            <a:off x="348883" y="1858234"/>
            <a:ext cx="549085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parameterized queries / prepared statements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to prevent SQL injection.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Grant least privilege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(only required permissions to users/roles).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Encrypt sensitive data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(passwords, tokens, PII).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Rotate credentials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and store them securely (env variables / secrets manager).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separate users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read-only, write, and admin operations.</a:t>
            </a:r>
            <a:endParaRPr lang="en-US"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3B4546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9925-0AB5-CDAB-D356-22F1BCBA9B45}"/>
              </a:ext>
            </a:extLst>
          </p:cNvPr>
          <p:cNvSpPr txBox="1"/>
          <p:nvPr/>
        </p:nvSpPr>
        <p:spPr>
          <a:xfrm>
            <a:off x="568963" y="154091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ABCCD-77AE-24DB-B8D2-75B17AF62071}"/>
              </a:ext>
            </a:extLst>
          </p:cNvPr>
          <p:cNvSpPr txBox="1"/>
          <p:nvPr/>
        </p:nvSpPr>
        <p:spPr>
          <a:xfrm>
            <a:off x="568963" y="431574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EFFCE-22D2-CB01-CE29-72F7A6DFEABF}"/>
              </a:ext>
            </a:extLst>
          </p:cNvPr>
          <p:cNvSpPr txBox="1"/>
          <p:nvPr/>
        </p:nvSpPr>
        <p:spPr>
          <a:xfrm>
            <a:off x="353302" y="4718311"/>
            <a:ext cx="60960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dynamic SQL with string concatenation.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root/superuser in applications.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store passwords in plain text.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expose DB directly to the internet.</a:t>
            </a:r>
            <a:endParaRPr lang="en-US">
              <a:ea typeface="+mn-lt"/>
              <a:cs typeface="+mn-lt"/>
            </a:endParaRPr>
          </a:p>
          <a:p>
            <a:pPr algn="ctr"/>
            <a:endParaRPr lang="en-US">
              <a:solidFill>
                <a:srgbClr val="000000"/>
              </a:solidFill>
              <a:ea typeface="SimSun"/>
              <a:cs typeface="+mn-lt"/>
            </a:endParaRPr>
          </a:p>
        </p:txBody>
      </p:sp>
      <p:pic>
        <p:nvPicPr>
          <p:cNvPr id="8" name="Picture 7" descr="8 Database Security Best Practices to Know">
            <a:extLst>
              <a:ext uri="{FF2B5EF4-FFF2-40B4-BE49-F238E27FC236}">
                <a16:creationId xmlns:a16="http://schemas.microsoft.com/office/drawing/2014/main" id="{DB62299C-4073-34C1-C83A-1921BFF1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864" y="1585072"/>
            <a:ext cx="5280771" cy="415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5813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4FDBFE-F70A-36E2-C876-F1744CD0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E9617B6D-A087-3F90-D5B3-EE79E96F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 : </a:t>
            </a: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Database Design</a:t>
            </a:r>
            <a:endParaRPr lang="en-US" sz="2800">
              <a:solidFill>
                <a:srgbClr val="FFFFFF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BF37-F189-4626-985B-5FD70BCFADFA}"/>
              </a:ext>
            </a:extLst>
          </p:cNvPr>
          <p:cNvSpPr txBox="1"/>
          <p:nvPr/>
        </p:nvSpPr>
        <p:spPr>
          <a:xfrm>
            <a:off x="348883" y="1858234"/>
            <a:ext cx="549085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Normalize data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(avoid redundancy unless justified).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proper data types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(e.g.,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DATE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instead of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VARCHAR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).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Define primary keys and foreign keys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indexes wisely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on frequently filtered/joined columns.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Apply constraints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NOT NULL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UNIQUE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CHECK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) to enforce data integrity.</a:t>
            </a:r>
            <a:endParaRPr lang="en-US"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3B4546"/>
              </a:solidFill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3B4546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6C3CF-D21D-0D12-20E7-FC544BD521D0}"/>
              </a:ext>
            </a:extLst>
          </p:cNvPr>
          <p:cNvSpPr txBox="1"/>
          <p:nvPr/>
        </p:nvSpPr>
        <p:spPr>
          <a:xfrm>
            <a:off x="568963" y="154091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592D1-C045-165E-482D-C73DA4CD8156}"/>
              </a:ext>
            </a:extLst>
          </p:cNvPr>
          <p:cNvSpPr txBox="1"/>
          <p:nvPr/>
        </p:nvSpPr>
        <p:spPr>
          <a:xfrm>
            <a:off x="568963" y="431574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496DC-826E-A2BC-8F54-1E754E12D2FA}"/>
              </a:ext>
            </a:extLst>
          </p:cNvPr>
          <p:cNvSpPr txBox="1"/>
          <p:nvPr/>
        </p:nvSpPr>
        <p:spPr>
          <a:xfrm>
            <a:off x="353302" y="4718311"/>
            <a:ext cx="60960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VARCHAR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everything.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skip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primary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keys.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over-index (indexes slow down writes).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mix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unrelated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data in one table.</a:t>
            </a:r>
            <a:endParaRPr lang="en-US">
              <a:ea typeface="+mn-lt"/>
              <a:cs typeface="+mn-lt"/>
            </a:endParaRPr>
          </a:p>
          <a:p>
            <a:pPr algn="ctr"/>
            <a:endParaRPr lang="en-US">
              <a:solidFill>
                <a:srgbClr val="000000"/>
              </a:solidFill>
              <a:ea typeface="SimSun"/>
              <a:cs typeface="+mn-lt"/>
            </a:endParaRPr>
          </a:p>
        </p:txBody>
      </p:sp>
      <p:pic>
        <p:nvPicPr>
          <p:cNvPr id="3" name="Picture 2" descr="Database Design Bad Practices | Toptal®">
            <a:extLst>
              <a:ext uri="{FF2B5EF4-FFF2-40B4-BE49-F238E27FC236}">
                <a16:creationId xmlns:a16="http://schemas.microsoft.com/office/drawing/2014/main" id="{8A7E111B-6047-6018-4BA3-8018BF69B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39" y="1716181"/>
            <a:ext cx="5528422" cy="404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572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B1614A-48DD-CA25-45EA-014FF2C5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F5F4F5DB-77B8-C6D1-A9BB-BCF81B895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 : </a:t>
            </a: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Performance</a:t>
            </a:r>
            <a:endParaRPr lang="en-US" sz="2800">
              <a:solidFill>
                <a:srgbClr val="FFFFFF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4A8A8-C348-963D-E065-BC9FF1106EB9}"/>
              </a:ext>
            </a:extLst>
          </p:cNvPr>
          <p:cNvSpPr txBox="1"/>
          <p:nvPr/>
        </p:nvSpPr>
        <p:spPr>
          <a:xfrm>
            <a:off x="348883" y="1858234"/>
            <a:ext cx="549085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Analyze queries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using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EXPLAIN / EXPLAIN ANALYZE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Index columns used in JOIN, WHERE, ORDER BY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Fetch only required columns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SELECT col1, col2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instead of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SELECT *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Batch inserts/updates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where possible.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pagination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large result sets.</a:t>
            </a:r>
            <a:endParaRPr lang="en-US"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3B4546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13EA3-159C-5CC3-9F4F-11CBE2AEFE5D}"/>
              </a:ext>
            </a:extLst>
          </p:cNvPr>
          <p:cNvSpPr txBox="1"/>
          <p:nvPr/>
        </p:nvSpPr>
        <p:spPr>
          <a:xfrm>
            <a:off x="568963" y="154091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868BF-4C9B-855F-D3CF-1BB100C8A7D6}"/>
              </a:ext>
            </a:extLst>
          </p:cNvPr>
          <p:cNvSpPr txBox="1"/>
          <p:nvPr/>
        </p:nvSpPr>
        <p:spPr>
          <a:xfrm>
            <a:off x="568963" y="431574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FE6E3-AF6D-A2BB-E38A-9B51B183AAEF}"/>
              </a:ext>
            </a:extLst>
          </p:cNvPr>
          <p:cNvSpPr txBox="1"/>
          <p:nvPr/>
        </p:nvSpPr>
        <p:spPr>
          <a:xfrm>
            <a:off x="353302" y="4718311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SELECT *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in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production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queries.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run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heavy queries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during peak hours.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ignore slow query logs.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perform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large deletes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without batching.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SQL Server Performance Monitoring ...">
            <a:extLst>
              <a:ext uri="{FF2B5EF4-FFF2-40B4-BE49-F238E27FC236}">
                <a16:creationId xmlns:a16="http://schemas.microsoft.com/office/drawing/2014/main" id="{6FC7C03E-181E-CF9A-9D72-E0436AA04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39" y="1716181"/>
            <a:ext cx="5528422" cy="406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266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76EF8B-122E-C7EF-6505-1C3C2F99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FD793AA0-090E-2C10-2AC8-26FF138F8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 : </a:t>
            </a: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Transactions &amp; Consistency</a:t>
            </a:r>
            <a:endParaRPr lang="en-US" sz="2800">
              <a:solidFill>
                <a:srgbClr val="FFFFFF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74DF5-68EF-10B7-5589-E10E3077E5A8}"/>
              </a:ext>
            </a:extLst>
          </p:cNvPr>
          <p:cNvSpPr txBox="1"/>
          <p:nvPr/>
        </p:nvSpPr>
        <p:spPr>
          <a:xfrm>
            <a:off x="348883" y="1903058"/>
            <a:ext cx="549085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transactions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BEGIN / COMMIT / ROLLBACK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) for multi-step operations.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Handle deadlocks and retries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gracefully.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Choose correct isolation level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based on use case.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Ensure consistency between application logic and DB constraints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AE282-3AD8-E377-46BE-6D929F5251BE}"/>
              </a:ext>
            </a:extLst>
          </p:cNvPr>
          <p:cNvSpPr txBox="1"/>
          <p:nvPr/>
        </p:nvSpPr>
        <p:spPr>
          <a:xfrm>
            <a:off x="568963" y="154091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C54E2-9064-73A4-465C-CD07AD1C94A7}"/>
              </a:ext>
            </a:extLst>
          </p:cNvPr>
          <p:cNvSpPr txBox="1"/>
          <p:nvPr/>
        </p:nvSpPr>
        <p:spPr>
          <a:xfrm>
            <a:off x="568963" y="417006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923C4-FED6-8DA7-83DD-323C64BDC80A}"/>
              </a:ext>
            </a:extLst>
          </p:cNvPr>
          <p:cNvSpPr txBox="1"/>
          <p:nvPr/>
        </p:nvSpPr>
        <p:spPr>
          <a:xfrm>
            <a:off x="353302" y="4572634"/>
            <a:ext cx="6096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leave transactions open.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Don’t rely only on application validation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(use DB constraints).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ignore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NULL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handling.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update rows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without WHERE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clause.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3" name="Picture 2" descr="ACID &amp; Database Transactions 101 ...">
            <a:extLst>
              <a:ext uri="{FF2B5EF4-FFF2-40B4-BE49-F238E27FC236}">
                <a16:creationId xmlns:a16="http://schemas.microsoft.com/office/drawing/2014/main" id="{BB9AA0B7-97EA-9554-693B-3C2BB8840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39" y="1716181"/>
            <a:ext cx="5528422" cy="403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004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6F534D-C012-4CD7-BAE5-896DE10E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92F0B6D1-267D-F24D-ECF5-1C3FA81F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 : </a:t>
            </a: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Maintenance &amp; Operations</a:t>
            </a:r>
            <a:endParaRPr lang="en-US" sz="2800">
              <a:solidFill>
                <a:srgbClr val="FFFFFF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32C5B-C73A-842E-02F4-9FA3FB5DAE7E}"/>
              </a:ext>
            </a:extLst>
          </p:cNvPr>
          <p:cNvSpPr txBox="1"/>
          <p:nvPr/>
        </p:nvSpPr>
        <p:spPr>
          <a:xfrm>
            <a:off x="348883" y="1903058"/>
            <a:ext cx="549085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Take regular backups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and test restore procedures.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Monitor DB performance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(slow queries, locks, disk usage).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Version-control schema changes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(Flyway, Liquibase).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Clean up unused indexes and tables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proper naming conventions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tables and columns.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EC5B3-D678-1453-396A-AEE3A1B71E08}"/>
              </a:ext>
            </a:extLst>
          </p:cNvPr>
          <p:cNvSpPr txBox="1"/>
          <p:nvPr/>
        </p:nvSpPr>
        <p:spPr>
          <a:xfrm>
            <a:off x="568963" y="154091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C253D-7206-3963-DEDD-FD1CEC92E451}"/>
              </a:ext>
            </a:extLst>
          </p:cNvPr>
          <p:cNvSpPr txBox="1"/>
          <p:nvPr/>
        </p:nvSpPr>
        <p:spPr>
          <a:xfrm>
            <a:off x="568963" y="422609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Arial"/>
              </a:rPr>
              <a:t>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BB2D-3695-82C8-A8C7-2D16990D4D0A}"/>
              </a:ext>
            </a:extLst>
          </p:cNvPr>
          <p:cNvSpPr txBox="1"/>
          <p:nvPr/>
        </p:nvSpPr>
        <p:spPr>
          <a:xfrm>
            <a:off x="353302" y="4628663"/>
            <a:ext cx="6096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make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 schema changes directly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in production.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skip backup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verification.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forget to clean test data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from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prod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-like environments.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assume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DB defaults are optimal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SQL Server Maintenance Plans: Best ...">
            <a:extLst>
              <a:ext uri="{FF2B5EF4-FFF2-40B4-BE49-F238E27FC236}">
                <a16:creationId xmlns:a16="http://schemas.microsoft.com/office/drawing/2014/main" id="{F8033DD2-B594-C1A5-D636-EDBC937F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397" y="1721224"/>
            <a:ext cx="5535705" cy="411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19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4323B3-6A14-8280-46A3-645C92B0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730F57F2-B763-C4BA-40D8-07CC4782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General Best Practices</a:t>
            </a:r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30A9B4C2-A4D6-D2BB-84BF-5C3E6D3D1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71" y="1212521"/>
            <a:ext cx="1102854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defTabSz="457200"/>
            <a:r>
              <a:rPr lang="en-US" sz="2000">
                <a:latin typeface="Calibri"/>
                <a:ea typeface="SimSun"/>
                <a:cs typeface="Arial"/>
              </a:rPr>
              <a:t> </a:t>
            </a:r>
            <a:endParaRPr lang="en-US" sz="1600">
              <a:solidFill>
                <a:srgbClr val="0D0D0D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1A95AE-87AE-AD8B-AA17-79D6396FD96E}"/>
              </a:ext>
            </a:extLst>
          </p:cNvPr>
          <p:cNvSpPr txBox="1"/>
          <p:nvPr/>
        </p:nvSpPr>
        <p:spPr>
          <a:xfrm>
            <a:off x="225618" y="1790999"/>
            <a:ext cx="549085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ANSI-standard SQL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wherever possible for portability.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</a:t>
            </a:r>
            <a:r>
              <a:rPr lang="en-US" sz="1600" b="1">
                <a:solidFill>
                  <a:srgbClr val="3B4546"/>
                </a:solidFill>
                <a:latin typeface="Consolas"/>
                <a:cs typeface="Arial"/>
              </a:rPr>
              <a:t>COALESCE()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 instead of vendor-specific null functions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Explicitly define data types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(avoid implicit conversions).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Use transactions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multi-step operations.</a:t>
            </a:r>
            <a:endParaRPr lang="en-US" sz="1600">
              <a:solidFill>
                <a:srgbClr val="3B4546"/>
              </a:solidFill>
              <a:latin typeface="Arial"/>
              <a:cs typeface="Arial"/>
            </a:endParaRPr>
          </a:p>
        </p:txBody>
      </p:sp>
      <p:pic>
        <p:nvPicPr>
          <p:cNvPr id="3" name="Picture 2" descr="4K Resolution">
            <a:extLst>
              <a:ext uri="{FF2B5EF4-FFF2-40B4-BE49-F238E27FC236}">
                <a16:creationId xmlns:a16="http://schemas.microsoft.com/office/drawing/2014/main" id="{516321E7-1B68-9B7D-0B61-417A4D494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68" y="1581240"/>
            <a:ext cx="5462496" cy="4284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377259-73FA-B88D-8365-AFD34D18AD9F}"/>
              </a:ext>
            </a:extLst>
          </p:cNvPr>
          <p:cNvSpPr txBox="1"/>
          <p:nvPr/>
        </p:nvSpPr>
        <p:spPr>
          <a:xfrm>
            <a:off x="445698" y="147367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</a:rPr>
              <a:t>General</a:t>
            </a:r>
            <a:r>
              <a:rPr lang="en-US" sz="1800" b="1" baseline="0">
                <a:latin typeface="Arial"/>
              </a:rPr>
              <a:t> – DO’s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4C044-37B0-91AF-44F3-BC60A0BCB75C}"/>
              </a:ext>
            </a:extLst>
          </p:cNvPr>
          <p:cNvSpPr txBox="1"/>
          <p:nvPr/>
        </p:nvSpPr>
        <p:spPr>
          <a:xfrm>
            <a:off x="445698" y="424851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</a:rPr>
              <a:t>General </a:t>
            </a:r>
            <a:r>
              <a:rPr lang="en-US" sz="1800" b="1" baseline="0">
                <a:latin typeface="Arial"/>
              </a:rPr>
              <a:t>– </a:t>
            </a:r>
            <a:r>
              <a:rPr lang="en-US" b="1">
                <a:latin typeface="Arial"/>
              </a:rPr>
              <a:t>DON’Ts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E1CBB-30EE-1545-7BD9-FAF01672289B}"/>
              </a:ext>
            </a:extLst>
          </p:cNvPr>
          <p:cNvSpPr txBox="1"/>
          <p:nvPr/>
        </p:nvSpPr>
        <p:spPr>
          <a:xfrm>
            <a:off x="230037" y="4651076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mix business logic heavily into SQL.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assume data type compatibility across </a:t>
            </a:r>
            <a:r>
              <a:rPr lang="en-US" sz="1600" err="1">
                <a:solidFill>
                  <a:srgbClr val="3B4546"/>
                </a:solidFill>
                <a:ea typeface="+mn-lt"/>
                <a:cs typeface="+mn-lt"/>
              </a:rPr>
              <a:t>DBs.</a:t>
            </a:r>
            <a:endParaRPr lang="en-US" sz="1600">
              <a:solidFill>
                <a:srgbClr val="3B4546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cs typeface="Arial"/>
              </a:rPr>
              <a:t>Don’t run delete query without where condition.</a:t>
            </a:r>
          </a:p>
          <a:p>
            <a:pPr algn="ctr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76147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59FE3D-04BF-ED3F-0461-2F5DE266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95AA31BC-A071-DBB4-7746-D18FB1B28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Do’s and Don’ts for MS SQL Server</a:t>
            </a:r>
            <a:endParaRPr lang="en-US"/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F599AE2D-900C-7DAB-6D5C-74774CDDC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2" y="1456936"/>
            <a:ext cx="1102854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defTabSz="457200"/>
            <a:r>
              <a:rPr lang="en-US" sz="2000">
                <a:latin typeface="Calibri"/>
                <a:ea typeface="SimSun"/>
                <a:cs typeface="Arial"/>
              </a:rPr>
              <a:t> </a:t>
            </a:r>
            <a:endParaRPr lang="en-US" sz="1600">
              <a:solidFill>
                <a:srgbClr val="0D0D0D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72253-6F9A-849D-61D0-F76A5049F7B0}"/>
              </a:ext>
            </a:extLst>
          </p:cNvPr>
          <p:cNvSpPr txBox="1"/>
          <p:nvPr/>
        </p:nvSpPr>
        <p:spPr>
          <a:xfrm>
            <a:off x="340638" y="1719112"/>
            <a:ext cx="5807153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MS SQL Server – DO’s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/>
              <a:t>Use SET NOCOUNT ON in stored procedures.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/>
              <a:t>Prefer NVARCHAR over VARCHAR for Unicode data.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/>
              <a:t>Use TOP with ORDER BY.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/>
              <a:t>Use TRY...CATCH for error handling.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Use parameterized queries to prevent SQL injection.</a:t>
            </a:r>
            <a:endParaRPr lang="en-US" sz="1600">
              <a:solidFill>
                <a:srgbClr val="000000"/>
              </a:solidFill>
              <a:cs typeface="Arial"/>
            </a:endParaRPr>
          </a:p>
          <a:p>
            <a:endParaRPr lang="en-US" sz="1600" b="1">
              <a:solidFill>
                <a:srgbClr val="000000"/>
              </a:solidFill>
              <a:cs typeface="Arial"/>
            </a:endParaRPr>
          </a:p>
          <a:p>
            <a:r>
              <a:rPr lang="en-US" sz="1600" b="1"/>
              <a:t>MS SQL Server – DON’Ts</a:t>
            </a:r>
            <a:endParaRPr lang="en-US" sz="1600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</a:t>
            </a:r>
            <a:r>
              <a:rPr lang="en-US" sz="1600">
                <a:solidFill>
                  <a:srgbClr val="3B4546"/>
                </a:solidFill>
                <a:latin typeface="Arial"/>
                <a:ea typeface="+mn-lt"/>
                <a:cs typeface="+mn-lt"/>
              </a:rPr>
              <a:t>TEXT, NTEXT, or IMAGE 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(deprecated).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forget </a:t>
            </a:r>
            <a:r>
              <a:rPr lang="en-US" sz="1600">
                <a:solidFill>
                  <a:srgbClr val="3B4546"/>
                </a:solidFill>
                <a:latin typeface="Arial"/>
                <a:ea typeface="+mn-lt"/>
                <a:cs typeface="+mn-lt"/>
              </a:rPr>
              <a:t>ORDER BY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when using </a:t>
            </a:r>
            <a:r>
              <a:rPr lang="en-US" sz="1600">
                <a:solidFill>
                  <a:srgbClr val="3B4546"/>
                </a:solidFill>
                <a:latin typeface="Arial"/>
                <a:ea typeface="+mn-lt"/>
                <a:cs typeface="+mn-lt"/>
              </a:rPr>
              <a:t>TOP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 sz="1600">
              <a:solidFill>
                <a:srgbClr val="3B4546"/>
              </a:solidFill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overuse cursors—prefer set-based operations.</a:t>
            </a:r>
            <a:endParaRPr lang="en-US" sz="1600">
              <a:solidFill>
                <a:srgbClr val="3B4546"/>
              </a:solidFill>
              <a:ea typeface="SimSun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assume </a:t>
            </a:r>
            <a:r>
              <a:rPr lang="en-US" sz="1600">
                <a:solidFill>
                  <a:srgbClr val="3B4546"/>
                </a:solidFill>
                <a:latin typeface="Arial"/>
                <a:ea typeface="+mn-lt"/>
                <a:cs typeface="+mn-lt"/>
              </a:rPr>
              <a:t>BIT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behaves like </a:t>
            </a:r>
            <a:r>
              <a:rPr lang="en-US" sz="1600" err="1">
                <a:solidFill>
                  <a:srgbClr val="3B4546"/>
                </a:solidFill>
                <a:ea typeface="+mn-lt"/>
                <a:cs typeface="+mn-lt"/>
              </a:rPr>
              <a:t>boolean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.</a:t>
            </a:r>
            <a:endParaRPr lang="en-US" sz="1600">
              <a:solidFill>
                <a:srgbClr val="000000"/>
              </a:solidFill>
              <a:ea typeface="SimSun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rely heavily on implicit transactions.</a:t>
            </a:r>
            <a:endParaRPr lang="en-US" sz="1600">
              <a:solidFill>
                <a:srgbClr val="000000"/>
              </a:solidFill>
              <a:ea typeface="SimSun"/>
              <a:cs typeface="+mn-lt"/>
            </a:endParaRPr>
          </a:p>
        </p:txBody>
      </p:sp>
      <p:pic>
        <p:nvPicPr>
          <p:cNvPr id="3" name="Picture 2" descr="4K Resolution">
            <a:extLst>
              <a:ext uri="{FF2B5EF4-FFF2-40B4-BE49-F238E27FC236}">
                <a16:creationId xmlns:a16="http://schemas.microsoft.com/office/drawing/2014/main" id="{DFE53B45-D1B3-9A80-F9E7-C6EF3A03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68" y="1581240"/>
            <a:ext cx="5462496" cy="428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033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972ACD-4F98-B751-FFFA-4264FC6C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037DC0E3-7E77-D6A4-E55A-954AE59CE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Do’s and Don’ts for PostgreSQL</a:t>
            </a:r>
            <a:endParaRPr lang="en-US"/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F5A605A7-6B9F-F4B0-9D96-4A320D08A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2" y="1456936"/>
            <a:ext cx="1102854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defTabSz="457200"/>
            <a:r>
              <a:rPr lang="en-US" sz="2000">
                <a:latin typeface="Calibri"/>
                <a:ea typeface="SimSun"/>
                <a:cs typeface="Arial"/>
              </a:rPr>
              <a:t> </a:t>
            </a:r>
            <a:endParaRPr lang="en-US" sz="1600">
              <a:solidFill>
                <a:srgbClr val="0D0D0D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6243A-3B9E-F788-B1E5-950148D7E3EE}"/>
              </a:ext>
            </a:extLst>
          </p:cNvPr>
          <p:cNvSpPr txBox="1"/>
          <p:nvPr/>
        </p:nvSpPr>
        <p:spPr>
          <a:xfrm>
            <a:off x="340638" y="1719112"/>
            <a:ext cx="615220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PostgreSQL </a:t>
            </a:r>
            <a:r>
              <a:rPr lang="en-US" sz="1600" b="1"/>
              <a:t> – DO’s</a:t>
            </a:r>
            <a:endParaRPr lang="en-US" sz="1600" b="1"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Use LIMIT / OFFSET for pagination.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Use ILIKE for case-insensitive search.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Use VACUUM and ANALYZE regularly.</a:t>
            </a:r>
          </a:p>
          <a:p>
            <a:pPr lvl="1"/>
            <a:endParaRPr lang="en-US" sz="1600">
              <a:solidFill>
                <a:srgbClr val="3B4546"/>
              </a:solidFill>
              <a:ea typeface="SimSun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PostgreSQL</a:t>
            </a:r>
            <a:r>
              <a:rPr lang="en-US" b="1"/>
              <a:t> – DON’Ts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forget PostgreSQL is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case-sensitive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for identifiers.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use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LIKE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when you need case-insensitive matching.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expect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UPDATE...JOIN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syntax like SQL Server.</a:t>
            </a:r>
            <a:endParaRPr lang="en-US">
              <a:solidFill>
                <a:srgbClr val="000000"/>
              </a:solidFill>
              <a:ea typeface="SimSun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ignore </a:t>
            </a:r>
            <a:r>
              <a:rPr lang="en-US" sz="1600" err="1">
                <a:solidFill>
                  <a:srgbClr val="3B4546"/>
                </a:solidFill>
                <a:ea typeface="+mn-lt"/>
                <a:cs typeface="+mn-lt"/>
              </a:rPr>
              <a:t>autovacuum</a:t>
            </a: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 settings.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assume PostgreSQL auto-commits inside functions.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Server room interior in datacenter">
            <a:extLst>
              <a:ext uri="{FF2B5EF4-FFF2-40B4-BE49-F238E27FC236}">
                <a16:creationId xmlns:a16="http://schemas.microsoft.com/office/drawing/2014/main" id="{A8FE3245-E983-6ACE-5998-894E82C33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430" y="1451845"/>
            <a:ext cx="5117440" cy="452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7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196B11-AAFF-2A87-DFB9-6815567C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59FD5F55-380A-02AF-4918-77571A47B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How to Maintain Daily Changes in Git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68C63-D614-E079-2A1E-CBBA5607CDC9}"/>
              </a:ext>
            </a:extLst>
          </p:cNvPr>
          <p:cNvSpPr txBox="1"/>
          <p:nvPr/>
        </p:nvSpPr>
        <p:spPr>
          <a:xfrm>
            <a:off x="340638" y="1532206"/>
            <a:ext cx="643662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🔹 Step-by-Step Daily Git Workflow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b="1"/>
              <a:t>1. Start Your Day – Update Local Code</a:t>
            </a:r>
            <a:endParaRPr lang="en-US">
              <a:ea typeface="SimSun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 Always pull the latest changes before starting work.</a:t>
            </a:r>
            <a:endParaRPr lang="en-US">
              <a:ea typeface="SimSun"/>
              <a:cs typeface="+mn-lt"/>
            </a:endParaRPr>
          </a:p>
          <a:p>
            <a:pPr marL="731520"/>
            <a:r>
              <a:rPr lang="en-US">
                <a:latin typeface="Consolas"/>
                <a:ea typeface="+mn-lt"/>
                <a:cs typeface="+mn-lt"/>
              </a:rPr>
              <a:t>git checkout main</a:t>
            </a:r>
          </a:p>
          <a:p>
            <a:pPr marL="731520"/>
            <a:r>
              <a:rPr lang="en-US">
                <a:latin typeface="Consolas"/>
                <a:ea typeface="+mn-lt"/>
                <a:cs typeface="+mn-lt"/>
              </a:rPr>
              <a:t>git pull origin main</a:t>
            </a:r>
          </a:p>
          <a:p>
            <a:pPr marL="182880"/>
            <a:r>
              <a:rPr lang="en-US">
                <a:ea typeface="+mn-lt"/>
                <a:cs typeface="+mn-lt"/>
              </a:rPr>
              <a:t>👉 Prevents conflicts and keeps your code up to date.</a:t>
            </a:r>
            <a:endParaRPr lang="en-US">
              <a:cs typeface="Arial"/>
            </a:endParaRPr>
          </a:p>
          <a:p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</a:t>
            </a:r>
            <a:r>
              <a:rPr lang="en-US" b="1"/>
              <a:t>2. Create a Branch for Today’s Work</a:t>
            </a:r>
            <a:endParaRPr lang="en-US">
              <a:ea typeface="SimSun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 Use meaningful branch names (include date or task).</a:t>
            </a:r>
            <a:endParaRPr lang="en-US"/>
          </a:p>
          <a:p>
            <a:pPr marL="640080"/>
            <a:r>
              <a:rPr lang="en-US">
                <a:latin typeface="Consolas"/>
                <a:ea typeface="+mn-lt"/>
                <a:cs typeface="+mn-lt"/>
              </a:rPr>
              <a:t>git checkout -b feature/login-fix-2026-01-05
</a:t>
            </a:r>
            <a:endParaRPr lang="en-US">
              <a:cs typeface="Arial"/>
            </a:endParaRPr>
          </a:p>
          <a:p>
            <a:pPr marL="182880"/>
            <a:r>
              <a:rPr lang="en-US">
                <a:ea typeface="+mn-lt"/>
                <a:cs typeface="+mn-lt"/>
              </a:rPr>
              <a:t>📌 </a:t>
            </a:r>
            <a:r>
              <a:rPr lang="en-US" b="1">
                <a:ea typeface="+mn-lt"/>
                <a:cs typeface="+mn-lt"/>
              </a:rPr>
              <a:t>Branch naming tips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latin typeface="Consolas"/>
                <a:ea typeface="+mn-lt"/>
                <a:cs typeface="+mn-lt"/>
              </a:rPr>
              <a:t>feature/…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latin typeface="Consolas"/>
                <a:ea typeface="+mn-lt"/>
                <a:cs typeface="+mn-lt"/>
              </a:rPr>
              <a:t>bugfix/…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latin typeface="Consolas"/>
                <a:ea typeface="+mn-lt"/>
                <a:cs typeface="+mn-lt"/>
              </a:rPr>
              <a:t>hotfix/…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latin typeface="Consolas"/>
                <a:ea typeface="+mn-lt"/>
                <a:cs typeface="+mn-lt"/>
              </a:rPr>
              <a:t>task/…</a:t>
            </a:r>
            <a:endParaRPr lang="en-US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65125-C8D3-C24B-1B25-D946C953C5FE}"/>
              </a:ext>
            </a:extLst>
          </p:cNvPr>
          <p:cNvSpPr txBox="1"/>
          <p:nvPr/>
        </p:nvSpPr>
        <p:spPr>
          <a:xfrm>
            <a:off x="7091378" y="2057778"/>
            <a:ext cx="474862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3. Make Small &amp; Logical Code Changes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Work on </a:t>
            </a:r>
            <a:r>
              <a:rPr lang="en-US" b="1">
                <a:ea typeface="+mn-lt"/>
                <a:cs typeface="+mn-lt"/>
              </a:rPr>
              <a:t>one task at a time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Avoid mixing unrelated changes</a:t>
            </a:r>
          </a:p>
          <a:p>
            <a:pPr marL="45720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Save frequently</a:t>
            </a:r>
            <a:endParaRPr lang="en-US">
              <a:cs typeface="Arial"/>
            </a:endParaRPr>
          </a:p>
          <a:p>
            <a:br>
              <a:rPr lang="en-US">
                <a:ea typeface="+mn-lt"/>
                <a:cs typeface="+mn-lt"/>
              </a:rPr>
            </a:br>
            <a:r>
              <a:rPr lang="en-US" b="1"/>
              <a:t>4. Check What You Changed</a:t>
            </a:r>
            <a:endParaRPr lang="en-US"/>
          </a:p>
          <a:p>
            <a:pPr marL="731520"/>
            <a:r>
              <a:rPr lang="en-US">
                <a:latin typeface="Consolas"/>
                <a:ea typeface="+mn-lt"/>
                <a:cs typeface="+mn-lt"/>
              </a:rPr>
              <a:t>git status
git diff</a:t>
            </a:r>
            <a:endParaRPr lang="en-US">
              <a:latin typeface="Consolas"/>
              <a:cs typeface="Arial"/>
            </a:endParaRPr>
          </a:p>
          <a:p>
            <a:pPr marL="182880"/>
            <a:r>
              <a:rPr lang="en-US">
                <a:ea typeface="+mn-lt"/>
                <a:cs typeface="+mn-lt"/>
              </a:rPr>
              <a:t>✔ Review changes before staging.</a:t>
            </a:r>
            <a:endParaRPr lang="en-US">
              <a:cs typeface="Arial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 b="1"/>
              <a:t>5. Stage Changes (Selectively)</a:t>
            </a:r>
            <a:endParaRPr lang="en-US"/>
          </a:p>
          <a:p>
            <a:pPr marL="731520"/>
            <a:r>
              <a:rPr lang="en-US">
                <a:latin typeface="Consolas"/>
                <a:cs typeface="Arial"/>
              </a:rPr>
              <a:t>git add file1.cs
git add file2.sql</a:t>
            </a:r>
          </a:p>
          <a:p>
            <a:pPr marL="182880"/>
            <a:r>
              <a:rPr lang="en-US">
                <a:ea typeface="+mn-lt"/>
                <a:cs typeface="+mn-lt"/>
              </a:rPr>
              <a:t>Or stage everything:</a:t>
            </a:r>
            <a:endParaRPr lang="en-US">
              <a:cs typeface="Arial"/>
            </a:endParaRPr>
          </a:p>
          <a:p>
            <a:pPr marL="731520"/>
            <a:r>
              <a:rPr lang="en-US">
                <a:latin typeface="Consolas"/>
                <a:cs typeface="Arial"/>
              </a:rPr>
              <a:t>git add 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55900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C64977-BCF5-3DF7-73AA-072651C3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BB20F9DF-A607-89DF-ADFF-EA90B3AD0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rial"/>
                <a:ea typeface="SimSun"/>
                <a:cs typeface="Arial"/>
              </a:rPr>
              <a:t>How to Maintain Daily Changes in Git Cont.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71225-EF00-AA9A-12CD-EFC7674E94DD}"/>
              </a:ext>
            </a:extLst>
          </p:cNvPr>
          <p:cNvSpPr txBox="1"/>
          <p:nvPr/>
        </p:nvSpPr>
        <p:spPr>
          <a:xfrm>
            <a:off x="221283" y="1586064"/>
            <a:ext cx="570415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6. Commit with a Clear Message</a:t>
            </a:r>
            <a:endParaRPr lang="en-US"/>
          </a:p>
          <a:p>
            <a:pPr marL="640080"/>
            <a:r>
              <a:rPr lang="en-US">
                <a:latin typeface="Consolas"/>
                <a:ea typeface="+mn-lt"/>
                <a:cs typeface="+mn-lt"/>
              </a:rPr>
              <a:t>git commit -m "Fix login validation issue"
</a:t>
            </a:r>
            <a:endParaRPr lang="en-US">
              <a:cs typeface="Arial"/>
            </a:endParaRPr>
          </a:p>
          <a:p>
            <a:pPr marL="182880"/>
            <a:r>
              <a:rPr lang="en-US">
                <a:ea typeface="+mn-lt"/>
                <a:cs typeface="+mn-lt"/>
              </a:rPr>
              <a:t>✅ </a:t>
            </a:r>
            <a:r>
              <a:rPr lang="en-US" b="1">
                <a:ea typeface="+mn-lt"/>
                <a:cs typeface="+mn-lt"/>
              </a:rPr>
              <a:t>Good commit message format</a:t>
            </a:r>
            <a:endParaRPr lang="en-US">
              <a:cs typeface="Arial"/>
            </a:endParaRPr>
          </a:p>
          <a:p>
            <a:pPr marL="640080"/>
            <a:r>
              <a:rPr lang="en-US">
                <a:latin typeface="Consolas"/>
                <a:ea typeface="+mn-lt"/>
                <a:cs typeface="+mn-lt"/>
              </a:rPr>
              <a:t>&lt;type&gt;: &lt;short summary&gt;
Example:
fix: handle null email in login API</a:t>
            </a:r>
            <a:endParaRPr lang="en-US">
              <a:cs typeface="Arial"/>
            </a:endParaRPr>
          </a:p>
          <a:p>
            <a:br>
              <a:rPr lang="en-US">
                <a:ea typeface="+mn-lt"/>
                <a:cs typeface="+mn-lt"/>
              </a:rPr>
            </a:br>
            <a:r>
              <a:rPr lang="en-US" b="1"/>
              <a:t>7. Push Daily Changes to Remote</a:t>
            </a:r>
            <a:endParaRPr lang="en-US">
              <a:cs typeface="Arial"/>
            </a:endParaRPr>
          </a:p>
          <a:p>
            <a:pPr marL="640080"/>
            <a:r>
              <a:rPr lang="en-US">
                <a:latin typeface="Consolas"/>
                <a:ea typeface="+mn-lt"/>
                <a:cs typeface="+mn-lt"/>
              </a:rPr>
              <a:t>git push origin feature/login-fix-2026-01-05
</a:t>
            </a:r>
            <a:endParaRPr lang="en-US">
              <a:cs typeface="Arial"/>
            </a:endParaRPr>
          </a:p>
          <a:p>
            <a:pPr marL="182880"/>
            <a:r>
              <a:rPr lang="en-US">
                <a:ea typeface="+mn-lt"/>
                <a:cs typeface="+mn-lt"/>
              </a:rPr>
              <a:t>☁ Keeps your work safe and visible to the team.</a:t>
            </a:r>
          </a:p>
          <a:p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CB750-1C05-475C-8894-11F7395A053F}"/>
              </a:ext>
            </a:extLst>
          </p:cNvPr>
          <p:cNvSpPr txBox="1"/>
          <p:nvPr/>
        </p:nvSpPr>
        <p:spPr>
          <a:xfrm>
            <a:off x="5930235" y="1478576"/>
            <a:ext cx="623634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8. Create Pull Request (PR)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Compare your branch → </a:t>
            </a:r>
            <a:r>
              <a:rPr lang="en-US">
                <a:latin typeface="Consolas"/>
                <a:cs typeface="Arial"/>
              </a:rPr>
              <a:t>main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>
                <a:latin typeface="Consolas"/>
                <a:cs typeface="Arial"/>
              </a:rPr>
              <a:t>develop</a:t>
            </a:r>
            <a:endParaRPr lang="en-US">
              <a:cs typeface="Arial"/>
            </a:endParaRPr>
          </a:p>
          <a:p>
            <a:pPr marL="45720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Add:</a:t>
            </a:r>
          </a:p>
          <a:p>
            <a:pPr marL="82296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What changed</a:t>
            </a:r>
            <a:endParaRPr lang="en-US">
              <a:cs typeface="Arial"/>
            </a:endParaRPr>
          </a:p>
          <a:p>
            <a:pPr marL="82296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Why changed</a:t>
            </a:r>
            <a:endParaRPr lang="en-US">
              <a:cs typeface="Arial"/>
            </a:endParaRPr>
          </a:p>
          <a:p>
            <a:pPr marL="82296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Screenshots/logs (if any)</a:t>
            </a:r>
            <a:endParaRPr lang="en-US">
              <a:ea typeface="SimSun"/>
              <a:cs typeface="+mn-lt"/>
            </a:endParaRPr>
          </a:p>
          <a:p>
            <a:pPr marL="537210" lvl="1"/>
            <a:endParaRPr lang="en-US" b="1"/>
          </a:p>
          <a:p>
            <a:pPr marL="0" lvl="1">
              <a:buFont typeface="Arial"/>
            </a:pPr>
            <a:r>
              <a:rPr lang="en-US" b="1"/>
              <a:t>9. Review &amp; Merge</a:t>
            </a:r>
            <a:endParaRPr lang="en-US">
              <a:cs typeface="Arial"/>
            </a:endParaRPr>
          </a:p>
          <a:p>
            <a:pPr marL="182880" lvl="1"/>
            <a:r>
              <a:rPr lang="en-US">
                <a:ea typeface="+mn-lt"/>
                <a:cs typeface="+mn-lt"/>
              </a:rPr>
              <a:t>After approval:</a:t>
            </a:r>
            <a:endParaRPr lang="en-US">
              <a:cs typeface="Arial"/>
            </a:endParaRPr>
          </a:p>
          <a:p>
            <a:pPr marL="640080" lvl="1"/>
            <a:r>
              <a:rPr lang="en-US">
                <a:latin typeface="Consolas"/>
                <a:cs typeface="Arial"/>
              </a:rPr>
              <a:t>git checkout main
git pull origin main
git merge feature/login-fix-2026-01-05
git push origin main
</a:t>
            </a:r>
            <a:endParaRPr lang="en-US">
              <a:cs typeface="Arial"/>
            </a:endParaRPr>
          </a:p>
          <a:p>
            <a:pPr marL="182880" lvl="1"/>
            <a:r>
              <a:rPr lang="en-US">
                <a:ea typeface="+mn-lt"/>
                <a:cs typeface="+mn-lt"/>
              </a:rPr>
              <a:t>🧹 Optional cleanup:</a:t>
            </a:r>
            <a:endParaRPr lang="en-US">
              <a:cs typeface="Arial"/>
            </a:endParaRPr>
          </a:p>
          <a:p>
            <a:pPr marL="640080" lvl="1"/>
            <a:r>
              <a:rPr lang="en-US">
                <a:latin typeface="Consolas"/>
                <a:cs typeface="Arial"/>
              </a:rPr>
              <a:t>git branch -d feature/login-fix-2026-01-05</a:t>
            </a:r>
            <a:endParaRPr lang="en-US">
              <a:cs typeface="Arial"/>
            </a:endParaRPr>
          </a:p>
          <a:p>
            <a:pPr marL="0" lvl="1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19974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CB5197-6578-B573-320B-8E95B11B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1E89B9A3-4AEE-786D-D62B-E462D9745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Best Practices for Daily Git Maintenance</a:t>
            </a:r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0D2D7A30-9EC3-95FF-9508-ADC914AAA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2" y="1456936"/>
            <a:ext cx="1102854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defTabSz="457200"/>
            <a:r>
              <a:rPr lang="en-US" sz="2000">
                <a:latin typeface="Calibri"/>
                <a:ea typeface="SimSun"/>
                <a:cs typeface="Arial"/>
              </a:rPr>
              <a:t> </a:t>
            </a:r>
            <a:endParaRPr lang="en-US" sz="1600">
              <a:solidFill>
                <a:srgbClr val="0D0D0D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DF438-B6D5-606A-5DE1-1BCD3A427028}"/>
              </a:ext>
            </a:extLst>
          </p:cNvPr>
          <p:cNvSpPr txBox="1"/>
          <p:nvPr/>
        </p:nvSpPr>
        <p:spPr>
          <a:xfrm>
            <a:off x="594638" y="2378645"/>
            <a:ext cx="5172495" cy="2708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DO’s</a:t>
            </a:r>
            <a:endParaRPr lang="en-US" b="1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Commit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daily (or multiple times per day)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Keep commits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small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Write </a:t>
            </a:r>
            <a:r>
              <a:rPr lang="en-US" sz="1600" b="1">
                <a:solidFill>
                  <a:srgbClr val="3B4546"/>
                </a:solidFill>
                <a:ea typeface="+mn-lt"/>
                <a:cs typeface="+mn-lt"/>
              </a:rPr>
              <a:t>meaningful messages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Pull before starting work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Use branches</a:t>
            </a:r>
            <a:endParaRPr lang="en-US">
              <a:cs typeface="Arial"/>
            </a:endParaRPr>
          </a:p>
          <a:p>
            <a:pPr lvl="1"/>
            <a:endParaRPr lang="en-US" sz="1600">
              <a:solidFill>
                <a:srgbClr val="3B4546"/>
              </a:solidFill>
              <a:cs typeface="Arial"/>
            </a:endParaRPr>
          </a:p>
          <a:p>
            <a:pPr lvl="1"/>
            <a:endParaRPr lang="en-US" sz="1600">
              <a:solidFill>
                <a:srgbClr val="3B4546"/>
              </a:solidFill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04D6F-5E7E-8095-7B62-3FCCA8FEF09A}"/>
              </a:ext>
            </a:extLst>
          </p:cNvPr>
          <p:cNvSpPr txBox="1"/>
          <p:nvPr/>
        </p:nvSpPr>
        <p:spPr>
          <a:xfrm>
            <a:off x="6412447" y="2378644"/>
            <a:ext cx="5075733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DON’Ts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commit broken code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commit secrets (passwords, tokens)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work directly on </a:t>
            </a:r>
            <a:r>
              <a:rPr lang="en-US" sz="1600">
                <a:solidFill>
                  <a:srgbClr val="3B4546"/>
                </a:solidFill>
                <a:latin typeface="Consolas"/>
                <a:ea typeface="+mn-lt"/>
                <a:cs typeface="+mn-lt"/>
              </a:rPr>
              <a:t>main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3B4546"/>
                </a:solidFill>
                <a:ea typeface="+mn-lt"/>
                <a:cs typeface="+mn-lt"/>
              </a:rPr>
              <a:t>Don’t mix features in one commit</a:t>
            </a:r>
            <a:endParaRPr lang="en-US">
              <a:cs typeface="Arial"/>
            </a:endParaRPr>
          </a:p>
          <a:p>
            <a:pPr lvl="1"/>
            <a:endParaRPr lang="en-US" sz="1600">
              <a:solidFill>
                <a:srgbClr val="3B4546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4076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5B9161-4EAB-CFD2-4494-30B5AAF8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06F1ABE0-91A2-C463-9DC1-43E43C5D4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" y="34"/>
            <a:ext cx="12185446" cy="13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Calibri"/>
                <a:ea typeface="SimSun"/>
                <a:cs typeface="Arial"/>
              </a:rPr>
              <a:t>Daily Git Checklist</a:t>
            </a:r>
            <a:endParaRPr lang="en-US">
              <a:latin typeface="Arial"/>
              <a:ea typeface="SimSun"/>
              <a:cs typeface="Arial"/>
            </a:endParaRPr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67BBA4C6-D412-900B-99AE-3FA5FF513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2" y="1456936"/>
            <a:ext cx="1102854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defTabSz="457200"/>
            <a:r>
              <a:rPr lang="en-US" sz="2000">
                <a:latin typeface="Calibri"/>
                <a:ea typeface="SimSun"/>
                <a:cs typeface="Arial"/>
              </a:rPr>
              <a:t> </a:t>
            </a:r>
            <a:endParaRPr lang="en-US" sz="1600">
              <a:solidFill>
                <a:srgbClr val="0D0D0D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D7E21-8548-4BF3-6A76-366CA7537911}"/>
              </a:ext>
            </a:extLst>
          </p:cNvPr>
          <p:cNvSpPr txBox="1"/>
          <p:nvPr/>
        </p:nvSpPr>
        <p:spPr>
          <a:xfrm>
            <a:off x="642562" y="2251074"/>
            <a:ext cx="6468510" cy="2949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Pull latest code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Create branch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Make changes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Review diff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Commit with message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Push branch</a:t>
            </a:r>
            <a:endParaRPr lang="en-US" b="1">
              <a:ea typeface="SimSun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Create PR</a:t>
            </a:r>
            <a:endParaRPr lang="en-US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08526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>
            <a:extLst>
              <a:ext uri="{FF2B5EF4-FFF2-40B4-BE49-F238E27FC236}">
                <a16:creationId xmlns:a16="http://schemas.microsoft.com/office/drawing/2014/main" id="{01058622-E7BE-F016-6C33-99E054381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" y="2841989"/>
            <a:ext cx="11512086" cy="132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marL="342900" indent="-32702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defTabSz="457200"/>
            <a:r>
              <a:rPr lang="en-US" sz="8000">
                <a:latin typeface="Calibri"/>
                <a:ea typeface="SimSun"/>
                <a:cs typeface="Arial"/>
              </a:rPr>
              <a:t> </a:t>
            </a:r>
            <a:r>
              <a:rPr lang="en-US" sz="8000" b="1">
                <a:latin typeface="Calibri"/>
                <a:ea typeface="SimSun"/>
                <a:cs typeface="Arial"/>
              </a:rPr>
              <a:t>Thank You!</a:t>
            </a:r>
            <a:endParaRPr lang="en-US" sz="8000" b="1">
              <a:latin typeface="Calibri"/>
              <a:ea typeface="SimSun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Solanki</dc:creator>
  <cp:revision>4</cp:revision>
  <dcterms:created xsi:type="dcterms:W3CDTF">2023-02-01T06:22:18Z</dcterms:created>
  <dcterms:modified xsi:type="dcterms:W3CDTF">2026-01-08T06:48:34Z</dcterms:modified>
</cp:coreProperties>
</file>